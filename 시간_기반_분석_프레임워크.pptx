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107"/>
  </p:notesMasterIdLst>
  <p:sldIdLst>
    <p:sldId id="363" r:id="rId2"/>
    <p:sldId id="364" r:id="rId3"/>
    <p:sldId id="365" r:id="rId4"/>
    <p:sldId id="366" r:id="rId5"/>
    <p:sldId id="367" r:id="rId6"/>
    <p:sldId id="368" r:id="rId7"/>
    <p:sldId id="369" r:id="rId8"/>
    <p:sldId id="370" r:id="rId9"/>
    <p:sldId id="371" r:id="rId10"/>
    <p:sldId id="372" r:id="rId11"/>
    <p:sldId id="468" r:id="rId12"/>
    <p:sldId id="469" r:id="rId13"/>
    <p:sldId id="470" r:id="rId14"/>
    <p:sldId id="376" r:id="rId15"/>
    <p:sldId id="377" r:id="rId16"/>
    <p:sldId id="378" r:id="rId17"/>
    <p:sldId id="379" r:id="rId18"/>
    <p:sldId id="380" r:id="rId19"/>
    <p:sldId id="381" r:id="rId20"/>
    <p:sldId id="382" r:id="rId21"/>
    <p:sldId id="383" r:id="rId22"/>
    <p:sldId id="384" r:id="rId23"/>
    <p:sldId id="385" r:id="rId24"/>
    <p:sldId id="386" r:id="rId25"/>
    <p:sldId id="471" r:id="rId26"/>
    <p:sldId id="388" r:id="rId27"/>
    <p:sldId id="472" r:id="rId28"/>
    <p:sldId id="473" r:id="rId29"/>
    <p:sldId id="474" r:id="rId30"/>
    <p:sldId id="475" r:id="rId31"/>
    <p:sldId id="393" r:id="rId32"/>
    <p:sldId id="394" r:id="rId33"/>
    <p:sldId id="476" r:id="rId34"/>
    <p:sldId id="477" r:id="rId35"/>
    <p:sldId id="478" r:id="rId36"/>
    <p:sldId id="479" r:id="rId37"/>
    <p:sldId id="480" r:id="rId38"/>
    <p:sldId id="400" r:id="rId39"/>
    <p:sldId id="401" r:id="rId40"/>
    <p:sldId id="481" r:id="rId41"/>
    <p:sldId id="482" r:id="rId42"/>
    <p:sldId id="404" r:id="rId43"/>
    <p:sldId id="405" r:id="rId44"/>
    <p:sldId id="483" r:id="rId45"/>
    <p:sldId id="484" r:id="rId46"/>
    <p:sldId id="485" r:id="rId47"/>
    <p:sldId id="409" r:id="rId48"/>
    <p:sldId id="410" r:id="rId49"/>
    <p:sldId id="411" r:id="rId50"/>
    <p:sldId id="486" r:id="rId51"/>
    <p:sldId id="487" r:id="rId52"/>
    <p:sldId id="488" r:id="rId53"/>
    <p:sldId id="489" r:id="rId54"/>
    <p:sldId id="490" r:id="rId55"/>
    <p:sldId id="417" r:id="rId56"/>
    <p:sldId id="491" r:id="rId57"/>
    <p:sldId id="492" r:id="rId58"/>
    <p:sldId id="420" r:id="rId59"/>
    <p:sldId id="421" r:id="rId60"/>
    <p:sldId id="493" r:id="rId61"/>
    <p:sldId id="494" r:id="rId62"/>
    <p:sldId id="495" r:id="rId63"/>
    <p:sldId id="496" r:id="rId64"/>
    <p:sldId id="497" r:id="rId65"/>
    <p:sldId id="498" r:id="rId66"/>
    <p:sldId id="428" r:id="rId67"/>
    <p:sldId id="429" r:id="rId68"/>
    <p:sldId id="430" r:id="rId69"/>
    <p:sldId id="499" r:id="rId70"/>
    <p:sldId id="500" r:id="rId71"/>
    <p:sldId id="433" r:id="rId72"/>
    <p:sldId id="434" r:id="rId73"/>
    <p:sldId id="501" r:id="rId74"/>
    <p:sldId id="436" r:id="rId75"/>
    <p:sldId id="437" r:id="rId76"/>
    <p:sldId id="438" r:id="rId77"/>
    <p:sldId id="502" r:id="rId78"/>
    <p:sldId id="503" r:id="rId79"/>
    <p:sldId id="504" r:id="rId80"/>
    <p:sldId id="505" r:id="rId81"/>
    <p:sldId id="506" r:id="rId82"/>
    <p:sldId id="507" r:id="rId83"/>
    <p:sldId id="445" r:id="rId84"/>
    <p:sldId id="446" r:id="rId85"/>
    <p:sldId id="508" r:id="rId86"/>
    <p:sldId id="509" r:id="rId87"/>
    <p:sldId id="449" r:id="rId88"/>
    <p:sldId id="510" r:id="rId89"/>
    <p:sldId id="451" r:id="rId90"/>
    <p:sldId id="452" r:id="rId91"/>
    <p:sldId id="453" r:id="rId92"/>
    <p:sldId id="511" r:id="rId93"/>
    <p:sldId id="512" r:id="rId94"/>
    <p:sldId id="513" r:id="rId95"/>
    <p:sldId id="515" r:id="rId96"/>
    <p:sldId id="514" r:id="rId97"/>
    <p:sldId id="516" r:id="rId98"/>
    <p:sldId id="460" r:id="rId99"/>
    <p:sldId id="461" r:id="rId100"/>
    <p:sldId id="517" r:id="rId101"/>
    <p:sldId id="518" r:id="rId102"/>
    <p:sldId id="519" r:id="rId103"/>
    <p:sldId id="520" r:id="rId104"/>
    <p:sldId id="466" r:id="rId105"/>
    <p:sldId id="467" r:id="rId10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80" y="30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16" Type="http://schemas.openxmlformats.org/officeDocument/2006/relationships/slide" Target="slides/slide15.xml"/><Relationship Id="rId107" Type="http://schemas.openxmlformats.org/officeDocument/2006/relationships/notesMaster" Target="notesMasters/notesMaster1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102" Type="http://schemas.openxmlformats.org/officeDocument/2006/relationships/slide" Target="slides/slide101.xml"/><Relationship Id="rId5" Type="http://schemas.openxmlformats.org/officeDocument/2006/relationships/slide" Target="slides/slide4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59" Type="http://schemas.openxmlformats.org/officeDocument/2006/relationships/slide" Target="slides/slide58.xml"/><Relationship Id="rId103" Type="http://schemas.openxmlformats.org/officeDocument/2006/relationships/slide" Target="slides/slide102.xml"/><Relationship Id="rId108" Type="http://schemas.openxmlformats.org/officeDocument/2006/relationships/presProps" Target="presProps.xml"/><Relationship Id="rId54" Type="http://schemas.openxmlformats.org/officeDocument/2006/relationships/slide" Target="slides/slide53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slide" Target="slides/slide105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viewProps" Target="viewProps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87" Type="http://schemas.openxmlformats.org/officeDocument/2006/relationships/slide" Target="slides/slide86.xml"/><Relationship Id="rId110" Type="http://schemas.openxmlformats.org/officeDocument/2006/relationships/theme" Target="theme/theme1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56" Type="http://schemas.openxmlformats.org/officeDocument/2006/relationships/slide" Target="slides/slide55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slide" Target="slides/slide104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25" Type="http://schemas.openxmlformats.org/officeDocument/2006/relationships/slide" Target="slides/slide24.xml"/><Relationship Id="rId46" Type="http://schemas.openxmlformats.org/officeDocument/2006/relationships/slide" Target="slides/slide45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62" Type="http://schemas.openxmlformats.org/officeDocument/2006/relationships/slide" Target="slides/slide61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1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85BFBF-B443-4F2B-8783-58B29D6E70CF}" type="datetimeFigureOut">
              <a:rPr lang="ko-KR" altLang="en-US" smtClean="0"/>
              <a:t>2026-04-08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B6AFED8-6A49-4403-9662-16B22050FBC1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1648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...</a:t>
            </a:r>
          </a:p>
          <a:p>
            <a:r>
              <a:t>```</a:t>
            </a:r>
          </a:p>
          <a:p>
            <a:endParaRPr/>
          </a:p>
          <a:p>
            <a:r>
              <a:t>## 스타일 가이드</a:t>
            </a:r>
          </a:p>
          <a:p>
            <a:r>
              <a:t>- 불필요하게 장황하지 않게</a:t>
            </a:r>
          </a:p>
          <a:p>
            <a:r>
              <a:t>- 교육용이면서도 실무형</a:t>
            </a:r>
          </a:p>
          <a:p>
            <a:r>
              <a:t>- Mixpanel / CRM / Experimentation 연결이 자연스럽게 드러나게</a:t>
            </a:r>
          </a:p>
          <a:p>
            <a:r>
              <a:t>- 동일 메시지 반복은 줄이되, 원문 내용은 빠짐없이 반영</a:t>
            </a:r>
          </a:p>
          <a:p>
            <a:r>
              <a:t>- 필요 시 여러 장으로 나눠도 괜찮다</a:t>
            </a:r>
          </a:p>
          <a:p>
            <a:r>
              <a:t>- 최종 결과는 “강의 + 실무 워크숍 + 컨설팅 소개” 어디에도 재활용 가능해야 한다</a:t>
            </a:r>
          </a:p>
          <a:p>
            <a:endParaRPr/>
          </a:p>
          <a:p>
            <a:r>
              <a:t>## 추가 작업 지시</a:t>
            </a:r>
          </a:p>
          <a:p>
            <a:r>
              <a:t>1. 먼저 전체 원문을 읽고 **최적 슬라이드 목차**를 설계할 것</a:t>
            </a:r>
          </a:p>
          <a:p>
            <a:r>
              <a:t>2. 그 다음 각 장표를 상세 작성할 것</a:t>
            </a:r>
          </a:p>
          <a:p>
            <a:r>
              <a:t>3. 원문이 긴 경우, **한 슬라이드에 과적재하지 말고 적절히 분할**할 것</a:t>
            </a:r>
          </a:p>
          <a:p>
            <a:r>
              <a:t>4. “실습 과제”, “CRM 실행”, “실험 설계”, “Mixpanel 리포트 설정”은 별도 슬라이드로 분리하는 것을 우선 고려할 것</a:t>
            </a:r>
          </a:p>
          <a:p>
            <a:r>
              <a:t>5. 최종적으로 아래 3가지 부록도 추가할 것</a:t>
            </a:r>
          </a:p>
          <a:p>
            <a:r>
              <a:t>   - Appendix A. Mixpanel에서 구현 가능한 리포트 목록</a:t>
            </a:r>
          </a:p>
          <a:p>
            <a:r>
              <a:t>   - Appendix B. 팀 실습 운영안</a:t>
            </a:r>
          </a:p>
          <a:p>
            <a:r>
              <a:t>   - Appendix C. 이 프레임워크로 도출 가능한 액션 체계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400"/>
              </a:spcAft>
            </a:pPr>
            <a:endParaRPr>
              <a:latin typeface="NanumGothic"/>
              <a:ea typeface="NanumGothic"/>
            </a:endParaRP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아래에 포함된 **원문 전체 텍스트를 빠짐없이 보존**한다.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# Claude Code용 슬라이드 자동 생성 프롬프트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_기반 문서: 시간 기반 분석 프레임워크 PDF 전체 텍스트_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이 문서는 Claude Code에게 다음 작업을 지시하기 위한 **단일 프롬프트 마크다운 파일**입니다.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9424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아래에 포함된 **원문 전체 텍스트를 빠짐없이 보존**한다.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2. 원문의 의미를 유지하면서 **슬라이드용으로 재구성**한다.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39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3. 결과물은 **일관된 PPT 생성용 구조**로 정리한다.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27247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4. 필요 시 슬라이드 제목/소제목/본문/도표 제안/발표자 노트까지 생성한다.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19855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5. 원문 누락, 축약, 임의 삭제 없이 작업한다.</a:t>
            </a:r>
          </a:p>
        </p:txBody>
      </p:sp>
    </p:spTree>
    <p:extLst>
      <p:ext uri="{BB962C8B-B14F-4D97-AF65-F5344CB8AC3E}">
        <p14:creationId xmlns:p14="http://schemas.microsoft.com/office/powerpoint/2010/main" val="40117940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endParaRPr>
              <a:latin typeface="NanumGothic"/>
              <a:ea typeface="NanumGothic"/>
            </a:endParaRP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아래에 포함된 **원문 전체 텍스트를 빠짐없이 보존**한다.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2235189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59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" y="914400"/>
            <a:ext cx="274320" cy="2743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5029200"/>
            <a:ext cx="228600" cy="22860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9144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anumGothic"/>
                <a:ea typeface="NanumGothic"/>
              </a:rPr>
              <a:t>먼저 전체 원문을 읽고 **최적 슬라이드 목차**를 설계할 것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2304703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1371600" y="1097280"/>
            <a:ext cx="228600" cy="22860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Oval 3"/>
          <p:cNvSpPr/>
          <p:nvPr/>
        </p:nvSpPr>
        <p:spPr>
          <a:xfrm>
            <a:off x="9601200" y="5029200"/>
            <a:ext cx="182880" cy="182880"/>
          </a:xfrm>
          <a:prstGeom prst="ellipse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Oval 4"/>
          <p:cNvSpPr/>
          <p:nvPr/>
        </p:nvSpPr>
        <p:spPr>
          <a:xfrm>
            <a:off x="1828800" y="5303520"/>
            <a:ext cx="137160" cy="1371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109728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7254026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3749039"/>
            <a:ext cx="6217737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b="0">
                <a:solidFill>
                  <a:srgbClr val="4A5568"/>
                </a:solidFill>
                <a:latin typeface="NanumGothic"/>
                <a:ea typeface="NanumGothic"/>
              </a:rPr>
              <a:t>...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6400800"/>
            <a:ext cx="10362895" cy="54864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23210851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endParaRPr>
              <a:latin typeface="NanumGothic"/>
              <a:ea typeface="NanumGothic"/>
            </a:endParaRP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먼저 전체 원문을 읽고 **최적 슬라이드 목차**를 설계할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6228160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endParaRPr>
              <a:latin typeface="NanumGothic"/>
              <a:ea typeface="NanumGothic"/>
            </a:endParaRP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먼저 전체 원문을 읽고 **최적 슬라이드 목차**를 설계할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# 원문 전체 텍스트</a:t>
            </a:r>
          </a:p>
        </p:txBody>
      </p:sp>
    </p:spTree>
    <p:extLst>
      <p:ext uri="{BB962C8B-B14F-4D97-AF65-F5344CB8AC3E}">
        <p14:creationId xmlns:p14="http://schemas.microsoft.com/office/powerpoint/2010/main" val="884280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2026-04-08 v1.0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먼저 전체 원문을 읽고 **최적 슬라이드 목차**를 설계할 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2026-04-08 v1.0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시간 기반 분석 프레임워크</a:t>
            </a:r>
          </a:p>
        </p:txBody>
      </p:sp>
    </p:spTree>
    <p:extLst>
      <p:ext uri="{BB962C8B-B14F-4D97-AF65-F5344CB8AC3E}">
        <p14:creationId xmlns:p14="http://schemas.microsoft.com/office/powerpoint/2010/main" val="25288476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59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" y="914400"/>
            <a:ext cx="274320" cy="2743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5029200"/>
            <a:ext cx="228600" cy="22860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9144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anumGothic"/>
                <a:ea typeface="NanumGothic"/>
              </a:rPr>
              <a:t>Calendar Time 분석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8026656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1. Calendar Time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Calendar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Calendar Time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1⃣ Calendar Time &amp; Time Structure “시간을 쪼개고 → 패턴을 읽고 → 해석하는 능력”을 만든다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① 절대 시간 구조 (Calendar Layer)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9424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시간 단위를 계층적으로 이해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연 / 분기 / 월 / 주 / 일 / 시간 / 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39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월초 - 월중 - 월말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27247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요일 (월~일)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19855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주중 vs 주말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12463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시간대별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0507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② 비즈니스 시간 구간 (Daily Context Layer)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“하루 안에서도 시간은 다 다르다”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9028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출근 시간대 (07~10시)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82896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업무 오전 (10~12시)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75504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점심 시간 (12~13시)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6811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업무 오후 (13~18시)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퇴근 시간 (18~20시)</a:t>
            </a:r>
          </a:p>
        </p:txBody>
      </p:sp>
    </p:spTree>
    <p:extLst>
      <p:ext uri="{BB962C8B-B14F-4D97-AF65-F5344CB8AC3E}">
        <p14:creationId xmlns:p14="http://schemas.microsoft.com/office/powerpoint/2010/main" val="85576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1. Calendar Time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Calendar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퇴근 후 / 야간 (20~24시)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심야 (00~06시)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③ 상대 시간 개념 (Relative Time)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9424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특정 날짜 기준 전/후 (캠페인, 릴리즈 등)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N일/주/월 전후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39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이벤트 기준 Day 0 / 1 / 7 / 30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27247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④ Time Series 구조 이해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19855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Trend (추세)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12463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Seasonality (계절성)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0507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Noise (불규칙)</a:t>
            </a:r>
          </a:p>
        </p:txBody>
      </p:sp>
    </p:spTree>
    <p:extLst>
      <p:ext uri="{BB962C8B-B14F-4D97-AF65-F5344CB8AC3E}">
        <p14:creationId xmlns:p14="http://schemas.microsoft.com/office/powerpoint/2010/main" val="15555391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1. Calendar Time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Calendar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Calendar Time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💡 핵심 분석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1: 월초 vs 월말 소비 패턴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질문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“월말 매출 상승은 프로모션 때문인가, 급여 때문인가?”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질문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“주중 vs 주말 유저는 같은 유저인가, 다른 유저인가?”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월급일 이후 구매 집중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월말 budget 소진 행동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2: 요일별 행동 차이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주중: 탐색 / 비교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주말: 구매 / 소비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3: 시간대별 intent 차이</a:t>
            </a:r>
          </a:p>
        </p:txBody>
      </p:sp>
    </p:spTree>
    <p:extLst>
      <p:ext uri="{BB962C8B-B14F-4D97-AF65-F5344CB8AC3E}">
        <p14:creationId xmlns:p14="http://schemas.microsoft.com/office/powerpoint/2010/main" val="33783522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1. Calendar Time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Calendar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“왜 오전과 밤의 행동이 다른가?”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질문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“B2B SaaS는 언제 쓰이는가?”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출근 시간: 빠른 소비 (짧은 session)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업무 시간: 정보 탐색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야간: 콘텐츠 소비 / 구매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4: 업무시간 vs 비업무시간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업무시간 집중 사용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야간은 거의 inactive</a:t>
            </a:r>
          </a:p>
        </p:txBody>
      </p:sp>
    </p:spTree>
    <p:extLst>
      <p:ext uri="{BB962C8B-B14F-4D97-AF65-F5344CB8AC3E}">
        <p14:creationId xmlns:p14="http://schemas.microsoft.com/office/powerpoint/2010/main" val="37464671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1. Calendar Time 분석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Calendar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Calendar Time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💡 2. 핵심 분석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5: 피크 타임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질문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“트래픽이 몰리는 순간은 언제인가?”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질문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“성장인가, 계절 효과인가?”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서버 부하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프로모션 타이밍 최적화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6: Trend vs Seasonality 분리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12월 매출 상승 = 시즌 영향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지속 상승 = 실제 성장</a:t>
            </a:r>
          </a:p>
        </p:txBody>
      </p:sp>
    </p:spTree>
    <p:extLst>
      <p:ext uri="{BB962C8B-B14F-4D97-AF65-F5344CB8AC3E}">
        <p14:creationId xmlns:p14="http://schemas.microsoft.com/office/powerpoint/2010/main" val="19073282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1. Calendar Time 분석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Calendar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Calendar Time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Quiz. 월초 / 월중 / 월말 비교 분석이 특히 잘 먹히는 산업 분야는?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Think. Time-of-Day 와 Weekday vs Weekend + 데모그래픽 정보를 함께 고려해 만들 수 있는 페르소나를 생각해 보아요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9424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복수 시즈널리티·조합 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“하루·일주·한 달·일 년” 여러 주기를 동시에 보는 관점입니다.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39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시간대 × 요일 매트릭스: 이미 하시는 요일·시간대 분석을 히트맵으로 결합(예: 화요일 14–16시, 토요일 21–23시).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27247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요일 × 월초/월말: “월말 금요일 저녁” 같은 특정 블록에서만 터지는 행동(급여일 후 소비 등) 탐색.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19855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시간대 × 시즌: 평소 vs 명절/방학/연말에 “야간 피크가 당겨지는지/늦춰지는지” 등 패턴 변화 비교.</a:t>
            </a:r>
          </a:p>
        </p:txBody>
      </p:sp>
    </p:spTree>
    <p:extLst>
      <p:ext uri="{BB962C8B-B14F-4D97-AF65-F5344CB8AC3E}">
        <p14:creationId xmlns:p14="http://schemas.microsoft.com/office/powerpoint/2010/main" val="4148715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1. Calendar Time 분석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Calendar Time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1950689" y="1554480"/>
            <a:ext cx="8290316" cy="377190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4A5568"/>
                </a:solidFill>
                <a:latin typeface="NanumGothic"/>
                <a:ea typeface="NanumGothic"/>
              </a:rPr>
              <a:t>1. Calendar Time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50689" y="5417820"/>
            <a:ext cx="82903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NanumGothic"/>
                <a:ea typeface="NanumGothic"/>
              </a:rPr>
              <a:t>이미지 수동 삽입 필요</a:t>
            </a:r>
          </a:p>
        </p:txBody>
      </p:sp>
    </p:spTree>
    <p:extLst>
      <p:ext uri="{BB962C8B-B14F-4D97-AF65-F5344CB8AC3E}">
        <p14:creationId xmlns:p14="http://schemas.microsoft.com/office/powerpoint/2010/main" val="45405478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1. Calendar Time 분석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Calendar Time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1950689" y="1554480"/>
            <a:ext cx="8290316" cy="377190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4A5568"/>
                </a:solidFill>
                <a:latin typeface="NanumGothic"/>
                <a:ea typeface="NanumGothic"/>
              </a:rPr>
              <a:t>1. Calendar Time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50689" y="5417820"/>
            <a:ext cx="82903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NanumGothic"/>
                <a:ea typeface="NanumGothic"/>
              </a:rPr>
              <a:t>이미지 수동 삽입 필요</a:t>
            </a:r>
          </a:p>
        </p:txBody>
      </p:sp>
    </p:spTree>
    <p:extLst>
      <p:ext uri="{BB962C8B-B14F-4D97-AF65-F5344CB8AC3E}">
        <p14:creationId xmlns:p14="http://schemas.microsoft.com/office/powerpoint/2010/main" val="7934834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1. Calendar Time 분석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Calendar Time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1950689" y="1554480"/>
            <a:ext cx="8290316" cy="377190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4A5568"/>
                </a:solidFill>
                <a:latin typeface="NanumGothic"/>
                <a:ea typeface="NanumGothic"/>
              </a:rPr>
              <a:t>1. Calendar Time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50689" y="5417820"/>
            <a:ext cx="82903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NanumGothic"/>
                <a:ea typeface="NanumGothic"/>
              </a:rPr>
              <a:t>이미지 수동 삽입 필요</a:t>
            </a:r>
          </a:p>
        </p:txBody>
      </p:sp>
    </p:spTree>
    <p:extLst>
      <p:ext uri="{BB962C8B-B14F-4D97-AF65-F5344CB8AC3E}">
        <p14:creationId xmlns:p14="http://schemas.microsoft.com/office/powerpoint/2010/main" val="250454885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1. Calendar Time 분석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Calendar Time 분석</a:t>
            </a:r>
          </a:p>
        </p:txBody>
      </p:sp>
      <p:sp>
        <p:nvSpPr>
          <p:cNvPr id="5" name="Rectangle 4"/>
          <p:cNvSpPr/>
          <p:nvPr/>
        </p:nvSpPr>
        <p:spPr>
          <a:xfrm>
            <a:off x="1950689" y="1554480"/>
            <a:ext cx="8290316" cy="3771900"/>
          </a:xfrm>
          <a:prstGeom prst="rect">
            <a:avLst/>
          </a:prstGeom>
          <a:solidFill>
            <a:srgbClr val="E8EC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/>
            <a:r>
              <a:rPr sz="1400" b="0">
                <a:solidFill>
                  <a:srgbClr val="4A5568"/>
                </a:solidFill>
                <a:latin typeface="NanumGothic"/>
                <a:ea typeface="NanumGothic"/>
              </a:rPr>
              <a:t>1. Calendar Time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950689" y="5417820"/>
            <a:ext cx="829031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A5568"/>
                </a:solidFill>
                <a:latin typeface="NanumGothic"/>
                <a:ea typeface="NanumGothic"/>
              </a:rPr>
              <a:t>이미지 수동 삽입 필요</a:t>
            </a:r>
          </a:p>
        </p:txBody>
      </p:sp>
    </p:spTree>
    <p:extLst>
      <p:ext uri="{BB962C8B-B14F-4D97-AF65-F5344CB8AC3E}">
        <p14:creationId xmlns:p14="http://schemas.microsoft.com/office/powerpoint/2010/main" val="5889946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1. Calendar Time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Calendar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Calendar Time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기본 시간 단위 확장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단순 일/주/월 외에, “여러 계층의 시즈널리티”를 동시에 보는 관점입니다.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9424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월별·분기별·연도별 시즌: 월 단위(1–12월), 분기(Q1–Q4), 회계연도, 성수기/비수기, 세일 시즌(블랙프라이데이, 설·추석, 연말 등).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주차(week of year): 1년을 52주 기준으로 보고, 특정 주차(예: 1주차·52주차)의 특징을 보는 분석.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39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일령(day-of-cycle): 캠페인 시작 D0, D+1, D+2…, 기능 런칭 후 N일 차, 프로모션 N일 차 등 “캠페인 수명 주기 상의 날짜”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27247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결제·빌링·급여일 기준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19855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특히 커머스·구독 서비스에서 강력한 시간 축입니다.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12463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급여일/카드 결제일 전후: 월급일 전후 3일, 카드 결제일 직전·직후 n일, 공과금 납부 전후 소비 패턴.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0507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구독 갱신 주기: 갱신 예정일 D-7, D-3, D-1, 갱신 당일, 갱신 후 N일의 로그인·기능 사용·이탈률.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무료 체험 종료 전후: 트라이얼 종료 D-3, D-1, 당일, D+1 등 단계에서의 전환/이탈 분석.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9028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달력·사회 이벤트 기준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82896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“날짜”에 맥락을 더해주는 기준입니다.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75504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공휴일/평일/샌드위치 데이: 공휴일 전날·당일·다음날, 샌드위치 데이(임시공휴일 포함)별 트래픽·구매·콘텐츠 소비 패턴.</a:t>
            </a:r>
          </a:p>
        </p:txBody>
      </p:sp>
    </p:spTree>
    <p:extLst>
      <p:ext uri="{BB962C8B-B14F-4D97-AF65-F5344CB8AC3E}">
        <p14:creationId xmlns:p14="http://schemas.microsoft.com/office/powerpoint/2010/main" val="99568250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1. Calendar Time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Calendar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15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시즌 이벤트: 설·추석, 어린이날, 수능 시즌, 방학/개학, 크리스마스, 연말 등 시즌별 카테고리별 반응 차이.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외부 이슈·캠페인: 대형 스포츠 경기(월드컵, 올림픽), 정치 이벤트, 대형 방송/예능 방영 시간대 전후 트래픽 변화.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캠페인·프로덕트 이벤트 기준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9424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“시계열을 특정 이벤트를 중심으로 재정렬”하는 방식입니다.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기능 출시 전후: 기능 론칭 T0를 기준으로 T-7~T+30일의 기능 사용률, 전체 유지율, ARPU 변화.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39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가격/정책 변경 전후: 요금제 개편, 약관 변경, 배송비 인상 등 이벤트 이전 vs 이후 코호트의 전환·이탈 패턴.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27247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마케팅 캠페인 윈도: 캠페인 기간 내/직후(예: 캠페인 종료 후 1주) 사용자 행동·리텐션·재구매 분석.</a:t>
            </a:r>
          </a:p>
        </p:txBody>
      </p:sp>
    </p:spTree>
    <p:extLst>
      <p:ext uri="{BB962C8B-B14F-4D97-AF65-F5344CB8AC3E}">
        <p14:creationId xmlns:p14="http://schemas.microsoft.com/office/powerpoint/2010/main" val="120187332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1. Calendar Time 분석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Calendar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Calendar Time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시간대별 페르소나 세분화 (Temporal Persona)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단순히 “오전/오후”가 아니라, 사용자의 라이프 스테이지를 반영한 구분입니다.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9424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분석 기준 | 설명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얼리버드 vs 나이트 아울: 새벽 6시~8시 활동자와 자정 이후 활동자의 구매 품목/성향 비교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39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점심시간 ‘반짝 쇼핑’: 12:00 ~ 13:30 사이의 모바일 집중도와 전환율 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27247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데드 타임(Dead Time): 활동이 가장 저조한 시간대의 원인 분석 (서버 점검, 타겟의 수면 등)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19855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정기 구독/결제 주기: 자동 결제가 일어나는 시점과 실제 서비스 이용 시점의 괴리 분석</a:t>
            </a:r>
          </a:p>
        </p:txBody>
      </p:sp>
    </p:spTree>
    <p:extLst>
      <p:ext uri="{BB962C8B-B14F-4D97-AF65-F5344CB8AC3E}">
        <p14:creationId xmlns:p14="http://schemas.microsoft.com/office/powerpoint/2010/main" val="130996754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1. Calendar Time 분석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Calendar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Calendar Time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사용자 개인별 “평소 시간대”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집단 평균이 아니라 “각 유저의 평소 패턴”과 비교하는 축입니다.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9424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개인별 활동 창(activity window): 유저별로 평소 활동 시간대(예: 09–18시)를 추정하고, 그 범위 안/밖에서의 반응률 비교.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평소 패턴 대비 이탈/이상행동: 평소에는 주중 낮에만 방문하던 유저가 새벽·주말에만 접속하는 등 패턴 변화 감지.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39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개인별 “골든 타임”: 유저별 가장 전환율 높은 시간대를 찾고, 그 구간에 푸시/이메일/앱 메시지 발송 최적화</a:t>
            </a:r>
          </a:p>
        </p:txBody>
      </p:sp>
    </p:spTree>
    <p:extLst>
      <p:ext uri="{BB962C8B-B14F-4D97-AF65-F5344CB8AC3E}">
        <p14:creationId xmlns:p14="http://schemas.microsoft.com/office/powerpoint/2010/main" val="206270021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1. Calendar Time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Calendar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CRM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실험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Calendar Time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과제 1: Golden Time 찾기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언제 구매가 가장 많이 발생하는가?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분석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hour_of_day breakdown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2: 월초 vs 월말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질문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월말에 왜 매출이 증가하는가?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month_phase breakdown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3: 요일별 행동 차이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질문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주말 유저는 다른 유저인가?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4: 시간대별 전환율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질문</a:t>
            </a:r>
          </a:p>
        </p:txBody>
      </p:sp>
    </p:spTree>
    <p:extLst>
      <p:ext uri="{BB962C8B-B14F-4D97-AF65-F5344CB8AC3E}">
        <p14:creationId xmlns:p14="http://schemas.microsoft.com/office/powerpoint/2010/main" val="174985335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1. Calendar Time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Calendar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CRM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실험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언제 전환율이 높은가?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5 (고급)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“야간 구매 유저는 retention이 높은가?”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3: 요일별 행동 차이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질문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주말 유저는 다른 유저인가?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4: 시간대별 전환율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질문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언제 전환율이 높은가?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5 (고급)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질문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“야간 구매 유저는 retention이 높은가?”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Actionable Insight 를 도출하려면?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1) Golden Time 기반 CRM 실행 아이디어로 연결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2) A/B 테스트 연결</a:t>
            </a:r>
          </a:p>
        </p:txBody>
      </p:sp>
    </p:spTree>
    <p:extLst>
      <p:ext uri="{BB962C8B-B14F-4D97-AF65-F5344CB8AC3E}">
        <p14:creationId xmlns:p14="http://schemas.microsoft.com/office/powerpoint/2010/main" val="6848731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1. Calendar Time 분석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Calendar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Calendar Time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“언제 행동하는가 → 언제 개입할 것인가”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💡 핵심 인사이트 유형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Golden Time 존재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시간대별 intent 차이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월초 vs 월말 소비 패턴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🚀 CRM 실행 아이디어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Golden Time 푸시 최적화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밤 9~11시 구매 집중 → 푸시 집중 발송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2. 월말 소비 촉진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3986783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월말 할인 / 리마인드 메시지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4279392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3. 시간대별 메시지 분기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457200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아침 → 빠른 CTA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486460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점심 → 가벼운 콘텐츠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515721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야간 → 구매 유도</a:t>
            </a:r>
          </a:p>
        </p:txBody>
      </p:sp>
    </p:spTree>
    <p:extLst>
      <p:ext uri="{BB962C8B-B14F-4D97-AF65-F5344CB8AC3E}">
        <p14:creationId xmlns:p14="http://schemas.microsoft.com/office/powerpoint/2010/main" val="9316269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1. Calendar Time 분석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Calendar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CRM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실험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Calendar Time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실험 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Experiment 1: 푸시 시간 테스트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A: 오전 발송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B: 저녁 발송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KPI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CTR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Conversion 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Experiment 2: 시간대별 메시지 차별화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3986783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A: 동일 메시지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4279392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B: 시간별 다른 메시지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457200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🎯 핵심 KPI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486460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Time-based Conversion Rate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515721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Notification Response Time</a:t>
            </a:r>
          </a:p>
        </p:txBody>
      </p:sp>
    </p:spTree>
    <p:extLst>
      <p:ext uri="{BB962C8B-B14F-4D97-AF65-F5344CB8AC3E}">
        <p14:creationId xmlns:p14="http://schemas.microsoft.com/office/powerpoint/2010/main" val="323062062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1. Calendar Time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Calendar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Calendar Time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1. 시간대별 사용 (Hour of Day)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🖱 클릭 순서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1. Mixpanel 좌측 메뉴 →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2. → Insights 클릭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3. 상단 Event 선택 → App Open (또는 Purchase)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4. Measure: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07327" y="2523744"/>
            <a:ext cx="47699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Unique Users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5. 우측 Breakdown 클릭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6. →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7. → Hour of Day 선택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8. Visualization → Line Chart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3986783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⚠ 실수 포인트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4279392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Event Count vs Unique Users 헷갈림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457200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Timezone 설정 확인 (KST)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486460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2. 요일 분석 (Day of Week)</a:t>
            </a:r>
          </a:p>
        </p:txBody>
      </p:sp>
    </p:spTree>
    <p:extLst>
      <p:ext uri="{BB962C8B-B14F-4D97-AF65-F5344CB8AC3E}">
        <p14:creationId xmlns:p14="http://schemas.microsoft.com/office/powerpoint/2010/main" val="132173690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1. Calendar Time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Calendar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🖱 클릭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Insights 유지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2. Breakdown: → Time → Day of Week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3. Visualization: → Bar Chart</a:t>
            </a:r>
          </a:p>
        </p:txBody>
      </p:sp>
    </p:spTree>
    <p:extLst>
      <p:ext uri="{BB962C8B-B14F-4D97-AF65-F5344CB8AC3E}">
        <p14:creationId xmlns:p14="http://schemas.microsoft.com/office/powerpoint/2010/main" val="385381865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1. Calendar Time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Calendar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Calendar Time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3. Heatmap (요일 x 시간) 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🖱 클릭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2. Breakdown 1: → Day of Week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3. + Add Breakdown 클릭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4. Breakdown 2: → Hour of Day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5. Visualization: → Heatmap 선택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🎯 결과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“패턴이 한 눈에 보임”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4. 월초 / 월말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3986783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🖱 클릭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4279392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1. Data Management → Custom Property 생성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457200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2. 이름: month_phase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486460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if day &lt;= 10 → early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515721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if day &lt;= 20 → mid</a:t>
            </a:r>
          </a:p>
        </p:txBody>
      </p:sp>
    </p:spTree>
    <p:extLst>
      <p:ext uri="{BB962C8B-B14F-4D97-AF65-F5344CB8AC3E}">
        <p14:creationId xmlns:p14="http://schemas.microsoft.com/office/powerpoint/2010/main" val="2561090335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1. Calendar Time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Calendar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else → late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3. 다시 Insights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4. Breakdown: → month_phase</a:t>
            </a:r>
          </a:p>
        </p:txBody>
      </p:sp>
    </p:spTree>
    <p:extLst>
      <p:ext uri="{BB962C8B-B14F-4D97-AF65-F5344CB8AC3E}">
        <p14:creationId xmlns:p14="http://schemas.microsoft.com/office/powerpoint/2010/main" val="345939668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1. Calendar Time 분석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Calendar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CRM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실험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Calendar Time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5. 시간 블록 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🖱 클릭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Custom Property 생성 time_block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2. 규칙 입력: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07-10 commute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10-12 work_morning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12-13 lunch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13-18 work_afternoon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18-20 commute_home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20-24 evening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00-06 night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3. Insights → Breakdown: → time_block</a:t>
            </a:r>
          </a:p>
        </p:txBody>
      </p:sp>
    </p:spTree>
    <p:extLst>
      <p:ext uri="{BB962C8B-B14F-4D97-AF65-F5344CB8AC3E}">
        <p14:creationId xmlns:p14="http://schemas.microsoft.com/office/powerpoint/2010/main" val="724657060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59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" y="914400"/>
            <a:ext cx="274320" cy="2743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5029200"/>
            <a:ext cx="228600" cy="22860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9144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anumGothic"/>
                <a:ea typeface="NanumGothic"/>
              </a:rPr>
              <a:t>Event-relative Time (Time-to-X) 분석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3732785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2. Event-relative Time (Time-to-X)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Event-relative Time (Time-to-X)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2. Event-relative Time (Time-to-X)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커리큘럼 주제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핵심 정의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Time-to-X = 특정 행동(X)까지 걸리는 시간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이 분석은 단순 시간 측정이 아닙니다: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“사용자가 얼마나 빠르고 쉽게 목적을 달성하는가”를 측정하는 UX 지표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🧠 왜 중요한가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시간은 아래를 모두 포함합니다: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사용 편의성 (UX friction)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의사결정 난이도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정보 탐색 비용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설계된 사용자 흐름의 효율성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핵심 분석 사례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가입 후 1시간 내 미활성 유저 이탈률 증가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2. 장바구니 후 3시간 내 구매율 급감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3. 첫 콘텐츠 소비까지 시간 vs retention</a:t>
            </a:r>
          </a:p>
        </p:txBody>
      </p:sp>
    </p:spTree>
    <p:extLst>
      <p:ext uri="{BB962C8B-B14F-4D97-AF65-F5344CB8AC3E}">
        <p14:creationId xmlns:p14="http://schemas.microsoft.com/office/powerpoint/2010/main" val="220705055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2. Event-relative Time (Time-to-X)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Event-relative Time (Time-to-X)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4. 푸시 후 10분 내 반응 집중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5. Feature adoption 속도 vs 장기 retention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6. 빠른 구매 유저 vs 느린 유저 LTV 차이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🔥 핵심 관점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시간이 길어질수록: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사용자는 피로해진다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의사결정이 지연된다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이탈 확률이 증가한다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정리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Time-to-X = UX 품질 지표 + 전환 효율 지표</a:t>
            </a:r>
          </a:p>
        </p:txBody>
      </p:sp>
    </p:spTree>
    <p:extLst>
      <p:ext uri="{BB962C8B-B14F-4D97-AF65-F5344CB8AC3E}">
        <p14:creationId xmlns:p14="http://schemas.microsoft.com/office/powerpoint/2010/main" val="3897082005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2. Event-relative Time (Time-to-X)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Event-relative Time (Time-to-X)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2. Event-relative Time (Time-to-X)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📌 사례 3: 장바구니 → 구매 지연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“왜 장바구니에 넣고 안 살까?”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질문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“왜 콘텐츠를 늦게 소비하면 retention이 떨어질까?”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결제 과정 friction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의사결정 미완료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4: 콘텐츠 첫 소비까지 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value 전달 실패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💡 핵심 사례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“가입 후 24시간 내 미활성 유저 → 이탈 확률 급증”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3986783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“장바구니 후 3시간 내 구매 안 하면 전환율 급락”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4279392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“푸시 발송 후 10분 내 반응 집중”</a:t>
            </a:r>
          </a:p>
        </p:txBody>
      </p:sp>
    </p:spTree>
    <p:extLst>
      <p:ext uri="{BB962C8B-B14F-4D97-AF65-F5344CB8AC3E}">
        <p14:creationId xmlns:p14="http://schemas.microsoft.com/office/powerpoint/2010/main" val="256135703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2. Event-relative Time (Time-to-X)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Event-relative Time (Time-to-X)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📌 사례 1: 가입 → 첫 행동 (Activation Time)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질문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“가입 후 왜 아무 것도 안 하고 떠날까?”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질문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“왜 어떤 유저는 바로 사고, 어떤 유저는 며칠 고민할까?”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onboarding friction 존재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📌 사례 2: 상품 조회 → 구매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가격 / 확신 / UX 문제</a:t>
            </a:r>
          </a:p>
        </p:txBody>
      </p:sp>
    </p:spTree>
    <p:extLst>
      <p:ext uri="{BB962C8B-B14F-4D97-AF65-F5344CB8AC3E}">
        <p14:creationId xmlns:p14="http://schemas.microsoft.com/office/powerpoint/2010/main" val="322070530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2. Event-relative Time (Time-to-X) 분석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Event-relative Time (Time-to-X)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2. Event-relative Time (Time-to-X)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📌 사례 5: 푸시 → 반응 시간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질문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“알림을 언제 보내야 효과적인가?”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질문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“새 기능을 빨리 쓰는 유저는 왜 더 오래 남을까?”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반응 window 존재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6: 기능 도입 속도</a:t>
            </a:r>
          </a:p>
        </p:txBody>
      </p:sp>
    </p:spTree>
    <p:extLst>
      <p:ext uri="{BB962C8B-B14F-4D97-AF65-F5344CB8AC3E}">
        <p14:creationId xmlns:p14="http://schemas.microsoft.com/office/powerpoint/2010/main" val="1552279609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2. Event-relative Time (Time-to-X)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Event-relative Time (Time-to-X)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CRM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실험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2. Event-relative Time (Time-to-X)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팀 실습 과제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1 “우리 서비스 Time to First Action 계산”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2 “가장 느린 Funnel 단계 찾기”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3 “Fast vs Slow 유저 정의”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기준 설정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행동 차이 분석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4 “지연 구간에서 이탈률 분석”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5 “Time-to-X 기반 CRM 전략 설계”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언제 개입할 것인가?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6 (고급) “Time-to-X vs Retention 상관관계 분석”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추천 실습 질문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Fast 유저 비율은?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2. Slow 유저는 왜 느린가?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3. 몇 분 이후 전환율 급감하는가?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4. CRM 개입 타이밍은?</a:t>
            </a:r>
          </a:p>
        </p:txBody>
      </p:sp>
    </p:spTree>
    <p:extLst>
      <p:ext uri="{BB962C8B-B14F-4D97-AF65-F5344CB8AC3E}">
        <p14:creationId xmlns:p14="http://schemas.microsoft.com/office/powerpoint/2010/main" val="3928851544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2. Event-relative Time (Time-to-X)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Event-relative Time (Time-to-X)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CRM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실험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5. 할인 vs 리마인드 어떤 전략이 맞는가?</a:t>
            </a:r>
          </a:p>
        </p:txBody>
      </p:sp>
    </p:spTree>
    <p:extLst>
      <p:ext uri="{BB962C8B-B14F-4D97-AF65-F5344CB8AC3E}">
        <p14:creationId xmlns:p14="http://schemas.microsoft.com/office/powerpoint/2010/main" val="2080789546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2. Event-relative Time (Time-to-X)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Event-relative Time (Time-to-X)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2. Event-relative Time (Time-to-X)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“얼마나 빨리 행동하는가 → 어떻게 속도를 줄일 것인가”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💡 핵심 인사이트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conversion delay 존재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early vs late converter 차이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🚀 CRM 실행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Delayed Conversion 리마인드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장바구니 후 3시간 → 리마인드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24시간 → 할인 제공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2. Activation 가속화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3986783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가입 후 1시간 내 미활성 유저 → onboarding push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4279392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3. Notification Timing 최적화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457200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반응 peak 시간에 재발송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486460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실험 설계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515721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Experiment 1: 리타겟팅 타이밍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544982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A: 1시간 후</a:t>
            </a:r>
          </a:p>
        </p:txBody>
      </p:sp>
    </p:spTree>
    <p:extLst>
      <p:ext uri="{BB962C8B-B14F-4D97-AF65-F5344CB8AC3E}">
        <p14:creationId xmlns:p14="http://schemas.microsoft.com/office/powerpoint/2010/main" val="278303032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2. Event-relative Time (Time-to-X)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Event-relative Time (Time-to-X)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B: 6시간 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C: 24시간 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Experiment 2: Activation 가속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A: 기본 onboarding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B: 즉시 가이드 push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🎯 KPI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Time to Conversion 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Activation Rate ↑</a:t>
            </a:r>
          </a:p>
        </p:txBody>
      </p:sp>
    </p:spTree>
    <p:extLst>
      <p:ext uri="{BB962C8B-B14F-4D97-AF65-F5344CB8AC3E}">
        <p14:creationId xmlns:p14="http://schemas.microsoft.com/office/powerpoint/2010/main" val="7759258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2. Event-relative Time (Time-to-X)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Event-relative Time (Time-to-X)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2. Event-relative Time (Time-to-X)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📊 Report 1: Time to Convert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🔧 생성 경로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9424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Mixpanel → Funnels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⚙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39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Step 1: Sign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27247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Step 2: Purchase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19855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핵심 옵션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12463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Conversion Window: 7일 / 30일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0507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Display → Time to Convert 활성화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9028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평균 / median conversion 시간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82896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📊 Report 2: Time to Activation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75504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⚙ 설정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6811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Funnel: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43000" y="5760720"/>
            <a:ext cx="10134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Step 1: Sign Up</a:t>
            </a:r>
          </a:p>
        </p:txBody>
      </p:sp>
    </p:spTree>
    <p:extLst>
      <p:ext uri="{BB962C8B-B14F-4D97-AF65-F5344CB8AC3E}">
        <p14:creationId xmlns:p14="http://schemas.microsoft.com/office/powerpoint/2010/main" val="259366217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2. Event-relative Time (Time-to-X)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Event-relative Time (Time-to-X)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29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371600"/>
            <a:ext cx="101342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Step 2: Key Action (예: 상품 조회 / 콘텐츠 재생)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KPI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Activation까지 걸린 시간</a:t>
            </a:r>
          </a:p>
        </p:txBody>
      </p:sp>
    </p:spTree>
    <p:extLst>
      <p:ext uri="{BB962C8B-B14F-4D97-AF65-F5344CB8AC3E}">
        <p14:creationId xmlns:p14="http://schemas.microsoft.com/office/powerpoint/2010/main" val="243031029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2. Event-relative Time (Time-to-X)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Event-relative Time (Time-to-X)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2. Event-relative Time (Time-to-X)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1. Time to First Purchase 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🖱 클릭 순서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1. 좌측 → Analysis → Funnels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2. Step 1: → Sign Up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3. Step 2: → Purchase Completed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4. 우측 옵션: → “Time to Convert” 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🎯 결과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평균 시간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Median 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📊 Report 3: Repeat Interval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🔧 생성 경로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Insights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⚙ 설정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Event: Purchase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3986783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Measurement: → Frequency per User</a:t>
            </a:r>
          </a:p>
        </p:txBody>
      </p:sp>
    </p:spTree>
    <p:extLst>
      <p:ext uri="{BB962C8B-B14F-4D97-AF65-F5344CB8AC3E}">
        <p14:creationId xmlns:p14="http://schemas.microsoft.com/office/powerpoint/2010/main" val="81527193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2. Event-relative Time (Time-to-X)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Event-relative Time (Time-to-X)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Advanced: → Time between events (JQL or formula 활용 가능)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또는 Cohort 활용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“1회 구매자 → 2회 구매까지 시간”</a:t>
            </a:r>
          </a:p>
        </p:txBody>
      </p:sp>
    </p:spTree>
    <p:extLst>
      <p:ext uri="{BB962C8B-B14F-4D97-AF65-F5344CB8AC3E}">
        <p14:creationId xmlns:p14="http://schemas.microsoft.com/office/powerpoint/2010/main" val="6968138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2. Event-relative Time (Time-to-X) 분석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Event-relative Time (Time-to-X)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2. Event-relative Time (Time-to-X)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3. Fast vs Slow Segment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🖱 클릭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Funnel 결과 화면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2. 우측 → Filter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3. 조건 추가: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conversion time &lt; 1 day → Fast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&gt; 3 days → Slow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2. Funnel Lag 분석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🖱 클릭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Funnels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3986783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2. Step 설정: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4279392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Product Viewed → Add to Cart → Purchase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457200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3. Time to convert ON</a:t>
            </a:r>
          </a:p>
        </p:txBody>
      </p:sp>
    </p:spTree>
    <p:extLst>
      <p:ext uri="{BB962C8B-B14F-4D97-AF65-F5344CB8AC3E}">
        <p14:creationId xmlns:p14="http://schemas.microsoft.com/office/powerpoint/2010/main" val="41130995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59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" y="914400"/>
            <a:ext cx="274320" cy="2743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5029200"/>
            <a:ext cx="228600" cy="22860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9144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anumGothic"/>
                <a:ea typeface="NanumGothic"/>
              </a:rPr>
              <a:t>Cohort &amp; Retention Curve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6118377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3. Cohort &amp; Retention Curve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Cohort &amp; Retention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CRM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실험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3. Cohort &amp; Retention Curve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같은 시점에 유입된 사용자들의 시간에 따른 변화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🎯 1. 주제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Cohort 분석 (가입 시점 기준)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D+1 / D+7 / D+30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Retention Curve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Cohort별 행동 속도 차이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핵심 가치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이 분석으로 알 수 있는 것: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언제 이탈이 발생하는가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Day 1에서 급락 → onboarding 문제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Day 7 이후 급락 → 가치 부족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2. Retention이 plateau 되는가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일정 수준에서 유지 → “습관 형성 성공”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계속 하락 → product-market fit 문제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3. 어떤 행동이 retention을 만든다</a:t>
            </a:r>
          </a:p>
        </p:txBody>
      </p:sp>
    </p:spTree>
    <p:extLst>
      <p:ext uri="{BB962C8B-B14F-4D97-AF65-F5344CB8AC3E}">
        <p14:creationId xmlns:p14="http://schemas.microsoft.com/office/powerpoint/2010/main" val="173441245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3. Cohort &amp; Retention Curve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Cohort &amp; Retention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CRM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실험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특정 행동 한 유저 → retention 높음 (핵심 기능 발견 가능)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4. 언제 메시지를 보내야 하는가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이탈 직전 타이밍 → CRM 개입 가능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🔥 정리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Retention = 제품이 살아있는지 확인하는 가장 중요한 지표</a:t>
            </a:r>
          </a:p>
        </p:txBody>
      </p:sp>
    </p:spTree>
    <p:extLst>
      <p:ext uri="{BB962C8B-B14F-4D97-AF65-F5344CB8AC3E}">
        <p14:creationId xmlns:p14="http://schemas.microsoft.com/office/powerpoint/2010/main" val="972787992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3. Cohort &amp; Retention Curve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Cohort &amp; Retention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3. Cohort &amp; Retention Curve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핵심 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주차별 retention curve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cohort별 conversion timing 차이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특정 cohort의 seasonality 영향 비교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확장 포인트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“1월 cohort vs 3월 cohort → 행동 속도 차이”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“빠르게 구매한 cohort가 더 오래 남는다”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86783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“온보딩 완료 cohort vs 미완료 cohort”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79392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마케팅 캠페인 cohort vs organic cohort 비교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이건 Mixpanel에서 바로 강력하게 먹히는 영역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6460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핵심 분석 사례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15721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1: Day 1 급락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544982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상황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742432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가입 후 다음날 retention 20%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</p:spTree>
    <p:extLst>
      <p:ext uri="{BB962C8B-B14F-4D97-AF65-F5344CB8AC3E}">
        <p14:creationId xmlns:p14="http://schemas.microsoft.com/office/powerpoint/2010/main" val="2443619773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3. Cohort &amp; Retention Curve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Cohort &amp; Retention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onboarding 실패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첫 경험에서 value 전달 안 됨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액션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Day 0~1 CRM 강화</a:t>
            </a:r>
          </a:p>
        </p:txBody>
      </p:sp>
    </p:spTree>
    <p:extLst>
      <p:ext uri="{BB962C8B-B14F-4D97-AF65-F5344CB8AC3E}">
        <p14:creationId xmlns:p14="http://schemas.microsoft.com/office/powerpoint/2010/main" val="1748744816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3. Cohort &amp; Retention Curve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Cohort &amp; Retention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3. Cohort &amp; Retention Curve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2: Day 7 급락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상황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1주일 이후 retention 급락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상황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특정 월 cohort만 retention 높음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상황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“A 기능 사용 유저” retention 높음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반복 사용 이유 부족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액션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habit 형성 전략 필요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3: 특정 cohort만 retention 높음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시즌 / 캠페인 / 제품 변경 영향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4: 특정 행동한 유저 retention ↑</a:t>
            </a:r>
          </a:p>
        </p:txBody>
      </p:sp>
    </p:spTree>
    <p:extLst>
      <p:ext uri="{BB962C8B-B14F-4D97-AF65-F5344CB8AC3E}">
        <p14:creationId xmlns:p14="http://schemas.microsoft.com/office/powerpoint/2010/main" val="409529014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3. Cohort &amp; Retention Curve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Cohort &amp; Retention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핵심 기능 발견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액션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onboarding에 A 기능 강조</a:t>
            </a:r>
          </a:p>
        </p:txBody>
      </p:sp>
    </p:spTree>
    <p:extLst>
      <p:ext uri="{BB962C8B-B14F-4D97-AF65-F5344CB8AC3E}">
        <p14:creationId xmlns:p14="http://schemas.microsoft.com/office/powerpoint/2010/main" val="2631654737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3. Cohort &amp; Retention Curve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Cohort &amp; Retention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3. Cohort &amp; Retention Curve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5: plateau 존재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상황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Day 30 이후 retention 안정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상황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광고 유입 retention 낮음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상황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Day 30 이후 retention 안정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core user 확보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6: channel별 retention 차이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low quality traffic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7: “Day 0 행동 여부”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retention predictor</a:t>
            </a:r>
          </a:p>
        </p:txBody>
      </p:sp>
    </p:spTree>
    <p:extLst>
      <p:ext uri="{BB962C8B-B14F-4D97-AF65-F5344CB8AC3E}">
        <p14:creationId xmlns:p14="http://schemas.microsoft.com/office/powerpoint/2010/main" val="3938758266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3. Cohort &amp; Retention Curve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Cohort &amp; Retention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CRM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실험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3. Cohort &amp; Retention Curve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팀 실습 과제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1 “우리 서비스 Retention Curve 그리기”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2 “이탈이 가장 많이 발생하는 시점 찾기”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onboarding 개선 가설 도출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3 “Best Cohort vs Worst Cohort 비교”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4 “Retention driver 행동 찾기”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특정 행동 여부로 cohort 나누기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5 cohort별 conversion 속도 비교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6 “Retention plateau 존재 여부 확인”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7 “Retention 기반 CRM 전략 설계”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언제 메시지 보낼 것인가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7 (고급) “Time-to-X와 Retention 관계 분석”</a:t>
            </a:r>
          </a:p>
        </p:txBody>
      </p:sp>
    </p:spTree>
    <p:extLst>
      <p:ext uri="{BB962C8B-B14F-4D97-AF65-F5344CB8AC3E}">
        <p14:creationId xmlns:p14="http://schemas.microsoft.com/office/powerpoint/2010/main" val="93704767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3. Cohort &amp; Retention Curve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Cohort &amp; Retention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3. Cohort &amp; Retention Curve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“누가 오래 남는가 → 어떻게 재현할 것인가”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💡 인사이트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좋은 cohort vs 나쁜 cohort 존재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early 행동이 retention 결정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🚀 CRM 실행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좋은 cohort 복제 전략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best cohort 행동 패턴 → onboarding에 반영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2. Day 1 행동 유도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가입 후 24시간 집중 메시지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3986783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3. cohort별 메시지 차별화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4279392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광고 유입 vs organic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457200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실험 설계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486460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Experiment 1: Day 1 집중 전략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515721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A: 일반 onboarding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544982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B: Day 1 집중 CRM</a:t>
            </a:r>
          </a:p>
        </p:txBody>
      </p:sp>
    </p:spTree>
    <p:extLst>
      <p:ext uri="{BB962C8B-B14F-4D97-AF65-F5344CB8AC3E}">
        <p14:creationId xmlns:p14="http://schemas.microsoft.com/office/powerpoint/2010/main" val="175906916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3. Cohort &amp; Retention Curve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Cohort &amp; Retention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Experiment 2: Cohort별 메시지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A: 동일 메시지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B: 채널별 메시지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🎯 KPI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D1 / D7 Retention 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Cohort Gap 감소</a:t>
            </a:r>
          </a:p>
        </p:txBody>
      </p:sp>
    </p:spTree>
    <p:extLst>
      <p:ext uri="{BB962C8B-B14F-4D97-AF65-F5344CB8AC3E}">
        <p14:creationId xmlns:p14="http://schemas.microsoft.com/office/powerpoint/2010/main" val="1427488861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3. Cohort &amp; Retention Curve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Cohort &amp; Retention Curve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3. Cohort &amp; Retention Curve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📊 Report 1: Retention Curve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🔧 생성 경로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9424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Mixpanel → Retention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⚙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39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First Event: Sign Up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27247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Returning Event: App Open 또는 Key 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19855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Interval: Daily / Weekly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12463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📊 Report 2: Cohort별 Conversion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0507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🔧 방법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Funnel 생성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9028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Breakdown: → First Touch UTM Source → 또는 Signup Date (Cohort)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82896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📊 Report 3: Campaign Cohort 비교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75504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⚙ 설정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6811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Breakdown: ○ utm_campaign ○ channel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여기서 마케팅팀과 연결됨</a:t>
            </a:r>
          </a:p>
        </p:txBody>
      </p:sp>
    </p:spTree>
    <p:extLst>
      <p:ext uri="{BB962C8B-B14F-4D97-AF65-F5344CB8AC3E}">
        <p14:creationId xmlns:p14="http://schemas.microsoft.com/office/powerpoint/2010/main" val="4228275224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59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" y="914400"/>
            <a:ext cx="274320" cy="2743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5029200"/>
            <a:ext cx="228600" cy="22860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9144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anumGothic"/>
                <a:ea typeface="NanumGothic"/>
              </a:rPr>
              <a:t>Velocity / Lag 분석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103502017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4. Velocity / Lag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Velocity / Lag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4. Velocity / Lag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커리큘럼 주제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Velocity = 얼마나 빠르게, 얼마나 자주 행동하는가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Lag = 행동과 행동 사이에 얼마나 시간이 걸리는가, 얼마나 빠르게 행동하는가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🧠 쉽게 이해하면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Velocity = “이 유저 얼마나 열심히 쓰고 있지?”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Lag = “다음 행동까지 왜 이렇게 오래 걸리지?”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🎯 왜 중요한가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이 분석은 단순 사용량이 아니라: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의도 (Intent)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몰입도 (Engagement)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이탈 위험 (Churn Risk)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을 동시에 보여줍니다.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🔥 핵심 지표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action velocity (예: 하루 이벤트 수)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Session interval</a:t>
            </a:r>
          </a:p>
        </p:txBody>
      </p:sp>
    </p:spTree>
    <p:extLst>
      <p:ext uri="{BB962C8B-B14F-4D97-AF65-F5344CB8AC3E}">
        <p14:creationId xmlns:p14="http://schemas.microsoft.com/office/powerpoint/2010/main" val="88157515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4. Velocity / Lag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Velocity / Lag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Recency / Frequency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funnel step 간 이동 속도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feature adoption speed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🔥 핵심 관점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Velocity가 높으면 → 관심 높음 / 구매 가능성 높음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Lag가 길어지면 → 관심 감소 / 이탈 신호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정리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Velocity = “얼마나 뜨거운 유저인가”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Lag = “식고 있는가”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high intent user vs low intent user 구분 가능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early churn prediction 가능</a:t>
            </a:r>
          </a:p>
        </p:txBody>
      </p:sp>
    </p:spTree>
    <p:extLst>
      <p:ext uri="{BB962C8B-B14F-4D97-AF65-F5344CB8AC3E}">
        <p14:creationId xmlns:p14="http://schemas.microsoft.com/office/powerpoint/2010/main" val="3052961596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4. Velocity / Lag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Velocity / Lag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4. Velocity / Lag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💡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“빠르게 행동하는 유저 = high intent”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“session 간격이 늘어나는 순간 churn 시작”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“짧은 session 반복 = friction”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1: 빠른 행동 유저 (High Intent)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상황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가입 후 바로 상품 탐색 + 구매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86783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상황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79392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방문 간격이 점점 길어짐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강한 구매 의도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액션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upsell / cross-sell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2: Session 간격 증가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</p:spTree>
    <p:extLst>
      <p:ext uri="{BB962C8B-B14F-4D97-AF65-F5344CB8AC3E}">
        <p14:creationId xmlns:p14="http://schemas.microsoft.com/office/powerpoint/2010/main" val="317021832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4. Velocity / Lag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Velocity / Lag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churn 초기 신호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상황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짧은 시간에 많은 행동 vs 느리게 반복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액션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re-engagement CRM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3: Binge vs Slow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소비 패턴 차이</a:t>
            </a:r>
          </a:p>
        </p:txBody>
      </p:sp>
    </p:spTree>
    <p:extLst>
      <p:ext uri="{BB962C8B-B14F-4D97-AF65-F5344CB8AC3E}">
        <p14:creationId xmlns:p14="http://schemas.microsoft.com/office/powerpoint/2010/main" val="527857949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4. Velocity / Lag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Velocity / Lag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4. Velocity / Lag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📌 사례 4: search → purchase lag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상황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검색 후 구매까지 2~3일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상황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특정 기능 자주 사용하는 유저 retention 높음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상황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이벤트 발생 빈도 감소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고민 / 비교 과정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액션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리타겟팅 광고 타이밍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사례 5: Feature 사용 밀도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핵심 기능 발견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6: 행동 속도 감소</a:t>
            </a:r>
          </a:p>
        </p:txBody>
      </p:sp>
    </p:spTree>
    <p:extLst>
      <p:ext uri="{BB962C8B-B14F-4D97-AF65-F5344CB8AC3E}">
        <p14:creationId xmlns:p14="http://schemas.microsoft.com/office/powerpoint/2010/main" val="4013968763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4. Velocity / Lag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Velocity / Lag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 dirty="0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관심도 감소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액션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churn 방지</a:t>
            </a:r>
          </a:p>
        </p:txBody>
      </p:sp>
    </p:spTree>
    <p:extLst>
      <p:ext uri="{BB962C8B-B14F-4D97-AF65-F5344CB8AC3E}">
        <p14:creationId xmlns:p14="http://schemas.microsoft.com/office/powerpoint/2010/main" val="972916667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4. Velocity / Lag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Velocity / Lag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CRM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실험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4. Velocity / Lag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핵심 인사이트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🧠 메시지 1 “속도는 의도다”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🧠 메시지 2 “간격이 길어지면, 관심이 식고 있다”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🧠 메시지 3 “많이 쓰는 유저가 아니라, 자주 쓰는 유저가 중요하다”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🧠 메시지 4 “Lag는 churn의 초기 신호다”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🧠 메시지 5 “행동 밀도는 product-market fit의 신호다”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팀 실습 과제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1 “High Velocity User 정의”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기준 설정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특징 분석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2 “Session Interval 분석”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평균 간격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증가 패턴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3 “Churn 직전 패턴 찾기”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이벤트 감소</a:t>
            </a:r>
          </a:p>
        </p:txBody>
      </p:sp>
    </p:spTree>
    <p:extLst>
      <p:ext uri="{BB962C8B-B14F-4D97-AF65-F5344CB8AC3E}">
        <p14:creationId xmlns:p14="http://schemas.microsoft.com/office/powerpoint/2010/main" val="3658708968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4. Velocity / Lag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Velocity / Lag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CRM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실험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간격 증가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4 “Velocity vs Retention 분석”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5 “Lag 기반 CRM 전략 설계”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언제 개입할 것인가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6 “Fast vs Slow 구매 유저 비교”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7 (고급) “Feature usage density 분석”</a:t>
            </a:r>
          </a:p>
        </p:txBody>
      </p:sp>
    </p:spTree>
    <p:extLst>
      <p:ext uri="{BB962C8B-B14F-4D97-AF65-F5344CB8AC3E}">
        <p14:creationId xmlns:p14="http://schemas.microsoft.com/office/powerpoint/2010/main" val="3035588329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4. Velocity / Lag 분석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Velocity / Lag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CRM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실험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4. Velocity / Lag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4 “Velocity vs Retention 분석”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5 “Lag 기반 CRM 전략 설계”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언제 개입할 것인가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6 “Fast vs Slow 구매 유저 비교”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7 (고급) “Feature usage density 분석”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🚀 다음 단계 연결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이걸 이해하면 바로 연결됩니다: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CRM 타이밍 최적화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High intent targeting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Churn 예방 전략</a:t>
            </a:r>
          </a:p>
        </p:txBody>
      </p:sp>
    </p:spTree>
    <p:extLst>
      <p:ext uri="{BB962C8B-B14F-4D97-AF65-F5344CB8AC3E}">
        <p14:creationId xmlns:p14="http://schemas.microsoft.com/office/powerpoint/2010/main" val="2588862090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4. Velocity / Lag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Velocity / Lag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4. Velocity / Lag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“행동 속도 = 의도 → 속도를 활용하라”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💡 인사이트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fast user = high intent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slow user = risk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🚀 CRM 실행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Fast User 집중 공략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빠른 구매 유저 → upsell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2. Slow User 가속화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행동 지연 시 nudging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3986783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3. Session 간격 기반 CRM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4279392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방문 간격 늘어지면 re-engagement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457200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실험 설계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486460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Experiment 1: High Intent 타겟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515721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A: 전체 타겟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544982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B: fast user 타겟</a:t>
            </a:r>
          </a:p>
        </p:txBody>
      </p:sp>
    </p:spTree>
    <p:extLst>
      <p:ext uri="{BB962C8B-B14F-4D97-AF65-F5344CB8AC3E}">
        <p14:creationId xmlns:p14="http://schemas.microsoft.com/office/powerpoint/2010/main" val="805534262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4. Velocity / Lag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Velocity / Lag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Experiment 2: Nudging Timing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A: 즉시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B: 지연 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🎯 KPI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Velocity ↑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Conversion Rate ↑</a:t>
            </a:r>
          </a:p>
        </p:txBody>
      </p:sp>
    </p:spTree>
    <p:extLst>
      <p:ext uri="{BB962C8B-B14F-4D97-AF65-F5344CB8AC3E}">
        <p14:creationId xmlns:p14="http://schemas.microsoft.com/office/powerpoint/2010/main" val="3519464190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4. Velocity / Lag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Velocity / Lag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4. Velocity / Lag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📊 Report 1: Event Velocity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🔧 생성 경로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9424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⚙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39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Event: Any Event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27247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Measurement: → Events per User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19855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Segmentation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12463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High vs Low activity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0507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📊 Report 2: Funnel Step Lag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🔧 Funnels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9028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⚙ 설정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82896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Step: ○ Product View → Add to Cart → Purchase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75504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옵션: → Time to convert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6811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📊 Report 3: Feature Adoption Speed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⚙ 설정</a:t>
            </a:r>
          </a:p>
        </p:txBody>
      </p:sp>
    </p:spTree>
    <p:extLst>
      <p:ext uri="{BB962C8B-B14F-4D97-AF65-F5344CB8AC3E}">
        <p14:creationId xmlns:p14="http://schemas.microsoft.com/office/powerpoint/2010/main" val="97330226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4. Velocity / Lag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Velocity / Lag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45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Funnel: ○ Signup → 특정 Feature 사용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Breakdown: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User Type / Channel</a:t>
            </a:r>
          </a:p>
        </p:txBody>
      </p:sp>
    </p:spTree>
    <p:extLst>
      <p:ext uri="{BB962C8B-B14F-4D97-AF65-F5344CB8AC3E}">
        <p14:creationId xmlns:p14="http://schemas.microsoft.com/office/powerpoint/2010/main" val="2466138697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4. Velocity / Lag 분석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Velocity / Lag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46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4. Velocity / Lag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1. Events per User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🖱 클릭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Insights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2. Event: Any Event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3. Measure: → Events per User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2. Session 분석 (세션 이벤트 필요)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🖱 클릭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Event: Session Start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2. Measure: → Sessions per User</a:t>
            </a:r>
          </a:p>
        </p:txBody>
      </p:sp>
    </p:spTree>
    <p:extLst>
      <p:ext uri="{BB962C8B-B14F-4D97-AF65-F5344CB8AC3E}">
        <p14:creationId xmlns:p14="http://schemas.microsoft.com/office/powerpoint/2010/main" val="4056046733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59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" y="914400"/>
            <a:ext cx="274320" cy="2743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5029200"/>
            <a:ext cx="228600" cy="22860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9144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anumGothic"/>
                <a:ea typeface="NanumGothic"/>
              </a:rPr>
              <a:t>Lifecycle Time 분석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4042064663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5. Lifecycle Time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Lifecycle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CRM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실험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5. Lifecycle Time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Lifecycle Time = 유저가 ‘어떤 상태’에 있고, 언제 그 상태가 바뀌는지를 시간 기준으로 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🧠 쉽게 이해하면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유저는 이런 흐름을 가집니다: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신규 → 활성 → 반복 → 휴면 → 이탈 → 복귀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Lifecycle 분석은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**“지금 이 유저가 어디에 있고, 언제 다음 상태로 넘어가는가”**를 보는 것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예시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신규 → 활성까지 걸리는 시간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활성 → 휴면까지 걸리는 시간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휴면 → 복귀까지 걸리는 시간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활용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CRM / 리텐션 전략 설계 핵심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push timing, re-engagement 타이밍 최적화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🎯 주제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Activation → Retention → Churn</a:t>
            </a:r>
          </a:p>
        </p:txBody>
      </p:sp>
    </p:spTree>
    <p:extLst>
      <p:ext uri="{BB962C8B-B14F-4D97-AF65-F5344CB8AC3E}">
        <p14:creationId xmlns:p14="http://schemas.microsoft.com/office/powerpoint/2010/main" val="1014918350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5. Lifecycle Time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Lifecycle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47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CRM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실험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Recency 기반 lifecycle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Repeat / Reactivation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🎯 핵심 인사이트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언제 유저가 죽는지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언제 다시 살릴 수 있는지</a:t>
            </a:r>
          </a:p>
        </p:txBody>
      </p:sp>
    </p:spTree>
    <p:extLst>
      <p:ext uri="{BB962C8B-B14F-4D97-AF65-F5344CB8AC3E}">
        <p14:creationId xmlns:p14="http://schemas.microsoft.com/office/powerpoint/2010/main" val="153755850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5. Lifecycle Time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Lifecycle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5. Lifecycle Time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🔥 핵심 가치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Lifecycle 분석으로 할 수 있는 것: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Churn을 “사전 탐지”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갑자기 떠나는 게 아니라 특정 단계에서 떨어짐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2. 개입 타이밍 정확히 잡기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언제 CRM 보내야 하는지 명확해짐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3. VIP 유저 정의 가능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86783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반복 행동 패턴으로 구분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79392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4. Retention 전략 설계 가능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정리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486460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Lifecycle = “언제, 어떤 상태에서 개입할 것인가”를 알려주는 분석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핵심 인사이트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“유저는 상태를 가진다”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“이탈은 갑자기 일어나지 않는다”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“모든 유저에게 같은 메시지를 보내면 안 된다”</a:t>
            </a:r>
          </a:p>
        </p:txBody>
      </p:sp>
    </p:spTree>
    <p:extLst>
      <p:ext uri="{BB962C8B-B14F-4D97-AF65-F5344CB8AC3E}">
        <p14:creationId xmlns:p14="http://schemas.microsoft.com/office/powerpoint/2010/main" val="2586376217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5. Lifecycle Time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Lifecycle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48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“개입 타이밍이 전부다”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“좋은 유저는 반복한다”</a:t>
            </a:r>
          </a:p>
        </p:txBody>
      </p:sp>
    </p:spTree>
    <p:extLst>
      <p:ext uri="{BB962C8B-B14F-4D97-AF65-F5344CB8AC3E}">
        <p14:creationId xmlns:p14="http://schemas.microsoft.com/office/powerpoint/2010/main" val="1917145540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5. Lifecycle Time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Lifecycle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5. Lifecycle Time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핵심 분석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1: Activation 실패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상황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가입은 했는데 사용 안 함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상황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사용하다가 갑자기 안 옴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onboarding 실패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액션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가입 직후 CRM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ex. 7일 inactive = churn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📌 사례 2: Active → Dormant 전환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관심 감소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3986783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액션</a:t>
            </a:r>
          </a:p>
        </p:txBody>
      </p:sp>
    </p:spTree>
    <p:extLst>
      <p:ext uri="{BB962C8B-B14F-4D97-AF65-F5344CB8AC3E}">
        <p14:creationId xmlns:p14="http://schemas.microsoft.com/office/powerpoint/2010/main" val="1783941213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5. Lifecycle Time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Lifecycle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49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re-engagement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dirty="0">
                <a:solidFill>
                  <a:srgbClr val="4A5568"/>
                </a:solidFill>
                <a:latin typeface="NanumGothic"/>
                <a:ea typeface="NanumGothic"/>
              </a:rPr>
              <a:t>📌 </a:t>
            </a:r>
            <a:r>
              <a:rPr sz="1400" dirty="0" err="1">
                <a:solidFill>
                  <a:srgbClr val="4A5568"/>
                </a:solidFill>
                <a:latin typeface="NanumGothic"/>
                <a:ea typeface="NanumGothic"/>
              </a:rPr>
              <a:t>사례</a:t>
            </a:r>
            <a:r>
              <a:rPr sz="1400" dirty="0">
                <a:solidFill>
                  <a:srgbClr val="4A5568"/>
                </a:solidFill>
                <a:latin typeface="NanumGothic"/>
                <a:ea typeface="NanumGothic"/>
              </a:rPr>
              <a:t> 3: Repeat </a:t>
            </a:r>
            <a:r>
              <a:rPr sz="1400" dirty="0" err="1">
                <a:solidFill>
                  <a:srgbClr val="4A5568"/>
                </a:solidFill>
                <a:latin typeface="NanumGothic"/>
                <a:ea typeface="NanumGothic"/>
              </a:rPr>
              <a:t>유저</a:t>
            </a:r>
            <a:r>
              <a:rPr sz="1400" dirty="0">
                <a:solidFill>
                  <a:srgbClr val="4A5568"/>
                </a:solidFill>
                <a:latin typeface="NanumGothic"/>
                <a:ea typeface="NanumGothic"/>
              </a:rPr>
              <a:t> (VIP)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상황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반복 구매 유저 존재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high LTV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액션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혜택 제공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ex. 첫 구매 후 7일 내 재구매</a:t>
            </a:r>
          </a:p>
        </p:txBody>
      </p:sp>
    </p:spTree>
    <p:extLst>
      <p:ext uri="{BB962C8B-B14F-4D97-AF65-F5344CB8AC3E}">
        <p14:creationId xmlns:p14="http://schemas.microsoft.com/office/powerpoint/2010/main" val="2967423417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5. Lifecycle Time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Lifecycle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5. Lifecycle Time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핵심 분석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4: Churn 직전 행동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상황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사용 빈도 감소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상황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다시 돌아오는 유저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상황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86783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신규 vs 기존 유저 행동 다름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이탈 신호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5: Reactivation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복귀 트리거 존재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6: Lifecycle별 행동 차이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</p:spTree>
    <p:extLst>
      <p:ext uri="{BB962C8B-B14F-4D97-AF65-F5344CB8AC3E}">
        <p14:creationId xmlns:p14="http://schemas.microsoft.com/office/powerpoint/2010/main" val="412262816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5. Lifecycle Time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Lifecycle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50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메시지 분리 필요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ex. lifecycle별 Feature Usage</a:t>
            </a:r>
          </a:p>
        </p:txBody>
      </p:sp>
    </p:spTree>
    <p:extLst>
      <p:ext uri="{BB962C8B-B14F-4D97-AF65-F5344CB8AC3E}">
        <p14:creationId xmlns:p14="http://schemas.microsoft.com/office/powerpoint/2010/main" val="90137546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5. Lifecycle Time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Lifecycle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CRM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실험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5. Lifecycle Time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팀 실습 과제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1 “Lifecycle 정의하기”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단계 정의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기준 설정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2 “Churn 기준 정의”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7일 / 30일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3 “각 단계별 유저 비율 분석”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최종 핵심 정리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👉 Lifecycle 분석은 ‘상태 변화’를 보는 것이다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언제 활성화되는가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언제 식는가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언제 떠나는가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언제 돌아오는가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🚀 다음 단계 연결</a:t>
            </a:r>
          </a:p>
        </p:txBody>
      </p:sp>
    </p:spTree>
    <p:extLst>
      <p:ext uri="{BB962C8B-B14F-4D97-AF65-F5344CB8AC3E}">
        <p14:creationId xmlns:p14="http://schemas.microsoft.com/office/powerpoint/2010/main" val="252197084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5. Lifecycle Time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Lifecycle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51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CRM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실험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이걸 이해하면 바로 연결됩니다: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CRM 자동화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Churn 예방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LTV 극대화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4 “Churn 직전 행동 분석”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5 “Reactivation timing 찾기”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6 “VIP 유저 정의”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7 (고급) “Lifecycle별 CRM 전략 설계”</a:t>
            </a:r>
          </a:p>
        </p:txBody>
      </p:sp>
    </p:spTree>
    <p:extLst>
      <p:ext uri="{BB962C8B-B14F-4D97-AF65-F5344CB8AC3E}">
        <p14:creationId xmlns:p14="http://schemas.microsoft.com/office/powerpoint/2010/main" val="164219193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5. Lifecycle Time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Lifecycle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5. Lifecycle Time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“유저 상태 변화 → 언제 개입할 것인가”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💡 인사이트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churn 전 신호 존재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reactivation window 존재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🚀 CRM 실행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Churn 방지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inactivity 7일 → 리마인드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2. Reactivation 캠페인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dormant user 대상 할인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3986783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3. VIP 육성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4279392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early repeat user → 혜택 제공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457200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실험 설계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486460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Experiment 1: Churn 방지 타이밍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515721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A: 7일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544982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B: 14일</a:t>
            </a:r>
          </a:p>
        </p:txBody>
      </p:sp>
    </p:spTree>
    <p:extLst>
      <p:ext uri="{BB962C8B-B14F-4D97-AF65-F5344CB8AC3E}">
        <p14:creationId xmlns:p14="http://schemas.microsoft.com/office/powerpoint/2010/main" val="3179778315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5. Lifecycle Time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Lifecycle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Experiment 2: Reactivation 메시지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A: 할인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B: 콘텐츠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🎯 KPI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Churn Rate 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Reactivation Rate ↑</a:t>
            </a:r>
          </a:p>
        </p:txBody>
      </p:sp>
    </p:spTree>
    <p:extLst>
      <p:ext uri="{BB962C8B-B14F-4D97-AF65-F5344CB8AC3E}">
        <p14:creationId xmlns:p14="http://schemas.microsoft.com/office/powerpoint/2010/main" val="943469531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5. Lifecycle Time 분석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Lifecycle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53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5. Lifecycle Time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📊 Report 1: Recency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🔧 생성 경로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9424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Insights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⚙ 설정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39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Metric: → Last Seen (computed property 활용)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27247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또는 → cohort: ○ “Last active within 1 day / 7 days / 30 days”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19855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📊 Report 2: Lifecycle Funnel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12463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⚙ 설정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0507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Funnel: ○ Signup → Active → Repeat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Active 정의 중요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9028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예: “3회 이상 사용”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82896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📊 Report 3: Reactivation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75504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⚙ 방법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6811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Cohort 생성: ○ “30일 inactive user”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이후: ○ 해당 cohort의 이벤트 발생 여부 분석</a:t>
            </a:r>
          </a:p>
        </p:txBody>
      </p:sp>
    </p:spTree>
    <p:extLst>
      <p:ext uri="{BB962C8B-B14F-4D97-AF65-F5344CB8AC3E}">
        <p14:creationId xmlns:p14="http://schemas.microsoft.com/office/powerpoint/2010/main" val="343492021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5. Lifecycle Time 분석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Lifecycle Time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54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5. Lifecycle Time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2. Reactivation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🖱 클릭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1. cohort: → dormant users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2. Event: → App Open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1. Churn 분석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🖱 클릭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1. Cohort 생성: → “Last Active &gt; 7 days”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2. Insights: → cohort 선택</a:t>
            </a:r>
          </a:p>
        </p:txBody>
      </p:sp>
    </p:spTree>
    <p:extLst>
      <p:ext uri="{BB962C8B-B14F-4D97-AF65-F5344CB8AC3E}">
        <p14:creationId xmlns:p14="http://schemas.microsoft.com/office/powerpoint/2010/main" val="3577331112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3B599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val 1"/>
          <p:cNvSpPr/>
          <p:nvPr/>
        </p:nvSpPr>
        <p:spPr>
          <a:xfrm>
            <a:off x="914400" y="914400"/>
            <a:ext cx="274320" cy="2743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9144000" y="5029200"/>
            <a:ext cx="228600" cy="228600"/>
          </a:xfrm>
          <a:prstGeom prst="ellipse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Rectangle 3"/>
          <p:cNvSpPr/>
          <p:nvPr/>
        </p:nvSpPr>
        <p:spPr>
          <a:xfrm>
            <a:off x="914400" y="2743200"/>
            <a:ext cx="9144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3017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NanumGothic"/>
                <a:ea typeface="NanumGothic"/>
              </a:rPr>
              <a:t>External Context 분석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748272"/>
            <a:ext cx="12191695" cy="109728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  <p:extLst>
      <p:ext uri="{BB962C8B-B14F-4D97-AF65-F5344CB8AC3E}">
        <p14:creationId xmlns:p14="http://schemas.microsoft.com/office/powerpoint/2010/main" val="3120167485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6. External Context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External Context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5CE7"/>
                </a:solidFill>
                <a:latin typeface="NanumGothic"/>
                <a:ea typeface="NanumGothic"/>
              </a:rPr>
              <a:t>☐  </a:t>
            </a:r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6. External Context 분석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5CE7"/>
                </a:solidFill>
                <a:latin typeface="NanumGothic"/>
                <a:ea typeface="NanumGothic"/>
              </a:rPr>
              <a:t>☐  </a:t>
            </a:r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1⃣ 커리큘럼 주제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5CE7"/>
                </a:solidFill>
                <a:latin typeface="NanumGothic"/>
                <a:ea typeface="NanumGothic"/>
              </a:rPr>
              <a:t>☐  </a:t>
            </a:r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🎯 한 줄 정의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9424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5CE7"/>
                </a:solidFill>
                <a:latin typeface="NanumGothic"/>
                <a:ea typeface="NanumGothic"/>
              </a:rPr>
              <a:t>☐  </a:t>
            </a:r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External Context 분석 =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5CE7"/>
                </a:solidFill>
                <a:latin typeface="NanumGothic"/>
                <a:ea typeface="NanumGothic"/>
              </a:rPr>
              <a:t>☐  </a:t>
            </a:r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사용자 행동을 ‘외부 환경/상황’과 함께 해석하는 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39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5CE7"/>
                </a:solidFill>
                <a:latin typeface="NanumGothic"/>
                <a:ea typeface="NanumGothic"/>
              </a:rPr>
              <a:t>☐  </a:t>
            </a:r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🧠 쉽게 이해하면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27247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5CE7"/>
                </a:solidFill>
                <a:latin typeface="NanumGothic"/>
                <a:ea typeface="NanumGothic"/>
              </a:rPr>
              <a:t>☐  </a:t>
            </a:r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같은 시간이라도: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19855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5CE7"/>
                </a:solidFill>
                <a:latin typeface="NanumGothic"/>
                <a:ea typeface="NanumGothic"/>
              </a:rPr>
              <a:t>☐  </a:t>
            </a:r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월요일 오전 vs 공휴일 오전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712463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5CE7"/>
                </a:solidFill>
                <a:latin typeface="NanumGothic"/>
                <a:ea typeface="NanumGothic"/>
              </a:rPr>
              <a:t>☐  </a:t>
            </a:r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비 오는 날 vs 맑은 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0507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5CE7"/>
                </a:solidFill>
                <a:latin typeface="NanumGothic"/>
                <a:ea typeface="NanumGothic"/>
              </a:rPr>
              <a:t>☐  </a:t>
            </a:r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급여일 전 vs 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29768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5CE7"/>
                </a:solidFill>
                <a:latin typeface="NanumGothic"/>
                <a:ea typeface="NanumGothic"/>
              </a:rPr>
              <a:t>☐  </a:t>
            </a:r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행동은 완전히 달라집니다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59028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5CE7"/>
                </a:solidFill>
                <a:latin typeface="NanumGothic"/>
                <a:ea typeface="NanumGothic"/>
              </a:rPr>
              <a:t>☐  </a:t>
            </a:r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🎯 왜 중요한가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882896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5CE7"/>
                </a:solidFill>
                <a:latin typeface="NanumGothic"/>
                <a:ea typeface="NanumGothic"/>
              </a:rPr>
              <a:t>☐  </a:t>
            </a:r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기존 분석은 이렇게 합니다: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5175504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5CE7"/>
                </a:solidFill>
                <a:latin typeface="NanumGothic"/>
                <a:ea typeface="NanumGothic"/>
              </a:rPr>
              <a:t>☐  </a:t>
            </a:r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❌ “매출이 올랐다”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546811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5CE7"/>
                </a:solidFill>
                <a:latin typeface="NanumGothic"/>
                <a:ea typeface="NanumGothic"/>
              </a:rPr>
              <a:t>☐  </a:t>
            </a:r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External Context 분석은 이렇게 바꿉니다: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4400" y="576072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5CE7"/>
                </a:solidFill>
                <a:latin typeface="NanumGothic"/>
                <a:ea typeface="NanumGothic"/>
              </a:rPr>
              <a:t>☐  </a:t>
            </a:r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급여일 때문인가?</a:t>
            </a:r>
          </a:p>
        </p:txBody>
      </p:sp>
    </p:spTree>
    <p:extLst>
      <p:ext uri="{BB962C8B-B14F-4D97-AF65-F5344CB8AC3E}">
        <p14:creationId xmlns:p14="http://schemas.microsoft.com/office/powerpoint/2010/main" val="348287272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6. External Context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External Context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55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5CE7"/>
                </a:solidFill>
                <a:latin typeface="NanumGothic"/>
                <a:ea typeface="NanumGothic"/>
              </a:rPr>
              <a:t>☐  </a:t>
            </a:r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프로모션 때문인가?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5CE7"/>
                </a:solidFill>
                <a:latin typeface="NanumGothic"/>
                <a:ea typeface="NanumGothic"/>
              </a:rPr>
              <a:t>☐  </a:t>
            </a:r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시즌 효과인가?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5CE7"/>
                </a:solidFill>
                <a:latin typeface="NanumGothic"/>
                <a:ea typeface="NanumGothic"/>
              </a:rPr>
              <a:t>☐  </a:t>
            </a:r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예시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9424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5CE7"/>
                </a:solidFill>
                <a:latin typeface="NanumGothic"/>
                <a:ea typeface="NanumGothic"/>
              </a:rPr>
              <a:t>☐  </a:t>
            </a:r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날씨 (비 오는 날 vs 맑은 날)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5CE7"/>
                </a:solidFill>
                <a:latin typeface="NanumGothic"/>
                <a:ea typeface="NanumGothic"/>
              </a:rPr>
              <a:t>☐  </a:t>
            </a:r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급여일 (월급날 전후)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39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5CE7"/>
                </a:solidFill>
                <a:latin typeface="NanumGothic"/>
                <a:ea typeface="NanumGothic"/>
              </a:rPr>
              <a:t>☐  </a:t>
            </a:r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공휴일 / 연휴 vs 평일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27247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5CE7"/>
                </a:solidFill>
                <a:latin typeface="NanumGothic"/>
                <a:ea typeface="NanumGothic"/>
              </a:rPr>
              <a:t>☐  </a:t>
            </a:r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프로모션 기간 vs 비기간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419855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6C5CE7"/>
                </a:solidFill>
                <a:latin typeface="NanumGothic"/>
                <a:ea typeface="NanumGothic"/>
              </a:rPr>
              <a:t>☐  </a:t>
            </a:r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이건 온/오프 연동 분석으로 자연스럽게 이어짐</a:t>
            </a:r>
          </a:p>
        </p:txBody>
      </p:sp>
    </p:spTree>
    <p:extLst>
      <p:ext uri="{BB962C8B-B14F-4D97-AF65-F5344CB8AC3E}">
        <p14:creationId xmlns:p14="http://schemas.microsoft.com/office/powerpoint/2010/main" val="144995590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6. External Context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External Context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6. External Context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정리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External Context = “왜 그때 행동했는가”를 설명하는 변수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핵심 인사이트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“데이터는 항상 맥락과 함께 해석해야 한다”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“모든 변화에는 이유가 있다”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“시간만 보면 절반만 보는 것이다”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“External Context는 실험 변수다”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“마케팅은 타이밍 게임이다”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🎯 주제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캠페인 전/중/후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3986783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급여일 / 공휴일 / 날씨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4279392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릴리즈 / 업데이트 영향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457200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🔥 핵심 가치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486460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이 분석으로 할 수 있는 것: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515721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진짜 원인 vs 착시 구분</a:t>
            </a:r>
          </a:p>
        </p:txBody>
      </p:sp>
    </p:spTree>
    <p:extLst>
      <p:ext uri="{BB962C8B-B14F-4D97-AF65-F5344CB8AC3E}">
        <p14:creationId xmlns:p14="http://schemas.microsoft.com/office/powerpoint/2010/main" val="3148595845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6. External Context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External Context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56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광고 효과인지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계절성인지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2. 타이밍 기반 마케팅 가능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언제 캠페인 해야 하는지 명확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3. 상황 맞춤 개인화 가능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4. 실험 설계 정확도 상승</a:t>
            </a:r>
          </a:p>
        </p:txBody>
      </p:sp>
    </p:spTree>
    <p:extLst>
      <p:ext uri="{BB962C8B-B14F-4D97-AF65-F5344CB8AC3E}">
        <p14:creationId xmlns:p14="http://schemas.microsoft.com/office/powerpoint/2010/main" val="2458476672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6. External Context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External Context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6. External Context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2⃣ 핵심 분석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1: 급여일 효과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상황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매달 10일 이후 구매 급증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상황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종료 직전 트래픽 폭증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상황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가처분 소득 증가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액션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고가 상품 노출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2: 프로모션 종료 직전 Rush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urgency 효과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3: 공휴일 패턴 변화</a:t>
            </a:r>
          </a:p>
        </p:txBody>
      </p:sp>
    </p:spTree>
    <p:extLst>
      <p:ext uri="{BB962C8B-B14F-4D97-AF65-F5344CB8AC3E}">
        <p14:creationId xmlns:p14="http://schemas.microsoft.com/office/powerpoint/2010/main" val="428705594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6. External Context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External Context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57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주말보다 공휴일 트래픽 높음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여유 시간 증가</a:t>
            </a:r>
          </a:p>
        </p:txBody>
      </p:sp>
    </p:spTree>
    <p:extLst>
      <p:ext uri="{BB962C8B-B14F-4D97-AF65-F5344CB8AC3E}">
        <p14:creationId xmlns:p14="http://schemas.microsoft.com/office/powerpoint/2010/main" val="3631621838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6. External Context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External Context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6. External Context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2⃣ 핵심 분석 사례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4: 날씨 영향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상황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비 오는 날 콘텐츠 소비 증가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상황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기능 업데이트 후 retention 감소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상황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86783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여름/겨울 매출 차이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실내 활동 증가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5: 릴리즈 이후 변화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UX 문제 발생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사례 6: 시즌성 (성수기 / 비수기)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인사이트</a:t>
            </a:r>
          </a:p>
        </p:txBody>
      </p:sp>
    </p:spTree>
    <p:extLst>
      <p:ext uri="{BB962C8B-B14F-4D97-AF65-F5344CB8AC3E}">
        <p14:creationId xmlns:p14="http://schemas.microsoft.com/office/powerpoint/2010/main" val="2314922240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6. External Context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External Context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58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산업 구조 영향</a:t>
            </a:r>
          </a:p>
        </p:txBody>
      </p:sp>
    </p:spTree>
    <p:extLst>
      <p:ext uri="{BB962C8B-B14F-4D97-AF65-F5344CB8AC3E}">
        <p14:creationId xmlns:p14="http://schemas.microsoft.com/office/powerpoint/2010/main" val="3251580911"/>
      </p:ext>
    </p:extLst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6. External Context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External Context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CRM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실험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6. External Context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팀 실습 과제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1 “급여일 효과 분석”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2 “캠페인 전후 성과 비교”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3 “공휴일 vs 평일 행동 차이”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4 “날씨 또는 이벤트 영향 분석”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🔥 최종 핵심 정리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👉 External Context 분석의 본질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시간 → 언제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Event → 얼마나 빠르게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Lifecycle → 상태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Context → 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👉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“왜 그때 행동했는가”를 설명할 수 있어야 진짜 인사이트다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5 “Release 전후 UX 변화 분석”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6 “Context 기반 CRM 전략 설계”</a:t>
            </a:r>
          </a:p>
        </p:txBody>
      </p:sp>
    </p:spTree>
    <p:extLst>
      <p:ext uri="{BB962C8B-B14F-4D97-AF65-F5344CB8AC3E}">
        <p14:creationId xmlns:p14="http://schemas.microsoft.com/office/powerpoint/2010/main" val="3189928882"/>
      </p:ext>
    </p:extLst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6. External Context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External Context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59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CRM 실행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실험 설계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과제 7 (고급) “Context별 전환율 비교”</a:t>
            </a:r>
          </a:p>
        </p:txBody>
      </p:sp>
    </p:spTree>
    <p:extLst>
      <p:ext uri="{BB962C8B-B14F-4D97-AF65-F5344CB8AC3E}">
        <p14:creationId xmlns:p14="http://schemas.microsoft.com/office/powerpoint/2010/main" val="3544123780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6. External Context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External Context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6. External Context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🚀 다음 단계 연결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이걸 이해하면: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타이밍 기반 CRM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시즌 전략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캠페인 최적화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“시간 = 실험 변수”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💡 인사이트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급여일 효과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캠페인 carry-over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날씨 영향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🧪 실험 설계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Experiment 1: Payday 타겟팅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A: 일반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B: payday 집중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3986783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Experiment 2: 캠페인 종료 효과</a:t>
            </a:r>
          </a:p>
        </p:txBody>
      </p:sp>
    </p:spTree>
    <p:extLst>
      <p:ext uri="{BB962C8B-B14F-4D97-AF65-F5344CB8AC3E}">
        <p14:creationId xmlns:p14="http://schemas.microsoft.com/office/powerpoint/2010/main" val="1400961394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6. External Context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External Context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60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A: 종료 없음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B: 종료 24시간 전 알림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🎯 KPI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Campaign Lift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Context-based Conversion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🚀 CRM 실행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Payday Campaign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급여일 직후 고가 상품 노출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2. 캠페인 종료 직전 push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urgency 활용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3. 날씨 기반 메시지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비 오는 날 → 실내 콘텐츠 추천</a:t>
            </a:r>
          </a:p>
        </p:txBody>
      </p:sp>
    </p:spTree>
    <p:extLst>
      <p:ext uri="{BB962C8B-B14F-4D97-AF65-F5344CB8AC3E}">
        <p14:creationId xmlns:p14="http://schemas.microsoft.com/office/powerpoint/2010/main" val="3372740353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6. External Context 분석 (1/2)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External Context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6. External Context 분석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📊 Mixpanel 설계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Dashboard: Context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Campaign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Filter: ○ campaign 기간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108959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2. Before vs After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401567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feature release 기준 비교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3694175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3. External Tagging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3986783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property: ○ holiday / payday flag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79392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1. 캠페인 분석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57200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🖱 클릭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Insights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2. Filter: → campaign = 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2. Before vs After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78727" y="2523744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🖱 클릭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78727" y="2816351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1. Date filter</a:t>
            </a:r>
          </a:p>
        </p:txBody>
      </p:sp>
    </p:spTree>
    <p:extLst>
      <p:ext uri="{BB962C8B-B14F-4D97-AF65-F5344CB8AC3E}">
        <p14:creationId xmlns:p14="http://schemas.microsoft.com/office/powerpoint/2010/main" val="1363528645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D9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2600" b="1">
                <a:solidFill>
                  <a:srgbClr val="3B5998"/>
                </a:solidFill>
                <a:latin typeface="NanumGothic"/>
                <a:ea typeface="NanumGothic"/>
              </a:rPr>
              <a:t>6. External Context 분석 (2/2)</a:t>
            </a: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External Context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61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FF6B6B"/>
                </a:solidFill>
                <a:latin typeface="NanumGothic"/>
                <a:ea typeface="NanumGothic"/>
              </a:rPr>
              <a:t>Analytics Theme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78727" y="1325880"/>
            <a:ext cx="4998567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300" b="1">
                <a:solidFill>
                  <a:srgbClr val="6C5CE7"/>
                </a:solidFill>
                <a:latin typeface="NanumGothic"/>
                <a:ea typeface="NanumGothic"/>
              </a:rPr>
              <a:t>Insight</a:t>
            </a:r>
          </a:p>
        </p:txBody>
      </p:sp>
      <p:sp>
        <p:nvSpPr>
          <p:cNvPr id="8" name="Rectangle 7"/>
          <p:cNvSpPr/>
          <p:nvPr/>
        </p:nvSpPr>
        <p:spPr>
          <a:xfrm>
            <a:off x="6050127" y="1554480"/>
            <a:ext cx="27432" cy="457200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2. Compare: → before / after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📌 3. Payday 분석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78727" y="1645920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🖱 클릭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78727" y="1938528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1. Property 생성: → is_payday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78727" y="2231136"/>
            <a:ext cx="4998567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 b="1">
                <a:solidFill>
                  <a:srgbClr val="FF6B6B"/>
                </a:solidFill>
                <a:latin typeface="NanumGothic"/>
                <a:ea typeface="NanumGothic"/>
              </a:rPr>
              <a:t>2. Breakdown: → is_payday</a:t>
            </a:r>
          </a:p>
        </p:txBody>
      </p:sp>
    </p:spTree>
    <p:extLst>
      <p:ext uri="{BB962C8B-B14F-4D97-AF65-F5344CB8AC3E}">
        <p14:creationId xmlns:p14="http://schemas.microsoft.com/office/powerpoint/2010/main" val="3456995615"/>
      </p:ext>
    </p:extLst>
  </p:cSld>
  <p:clrMapOvr>
    <a:masterClrMapping/>
  </p:clrMapOvr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6C5CE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endParaRPr>
              <a:latin typeface="NanumGothic"/>
              <a:ea typeface="NanumGothic"/>
            </a:endParaRP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External Context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62</a:t>
            </a:r>
          </a:p>
        </p:txBody>
      </p:sp>
    </p:spTree>
    <p:extLst>
      <p:ext uri="{BB962C8B-B14F-4D97-AF65-F5344CB8AC3E}">
        <p14:creationId xmlns:p14="http://schemas.microsoft.com/office/powerpoint/2010/main" val="1416892542"/>
      </p:ext>
    </p:extLst>
  </p:cSld>
  <p:clrMapOvr>
    <a:masterClrMapping/>
  </p:clrMapOvr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12054535" y="0"/>
            <a:ext cx="137160" cy="685800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914400" y="347472"/>
            <a:ext cx="54864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914400" y="457200"/>
            <a:ext cx="1036289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endParaRPr>
              <a:latin typeface="NanumGothic"/>
              <a:ea typeface="NanumGothic"/>
            </a:endParaRPr>
          </a:p>
          <a:p>
            <a:pPr algn="l"/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External Context 분석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45775" y="649224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4A5568"/>
                </a:solidFill>
                <a:latin typeface="NanumGothic"/>
                <a:ea typeface="NanumGothic"/>
              </a:rPr>
              <a:t>63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# 최종 확인 규칙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1664208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작업 완료 전 아래를 반드시 체크할 것.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1956816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[ ] 원문 전체 내용이 슬라이드 구조에 반영되었는가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249424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[ ] 각 섹션별 개념 / 사례 / 실습 / CRM / 실험 / Mixpanel 리포트가 모두 포함되었는가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542032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[ ] 중복은 정리했되 내용 손실은 없는가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834639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[ ] 교육용/실무용/제안용으로 모두 재활용 가능하게 구성했는가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27247"/>
            <a:ext cx="10362895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>
                <a:solidFill>
                  <a:srgbClr val="4A5568"/>
                </a:solidFill>
                <a:latin typeface="NanumGothic"/>
                <a:ea typeface="NanumGothic"/>
              </a:rPr>
              <a:t>[ ] 발표 흐름이 자연스러운가</a:t>
            </a:r>
          </a:p>
        </p:txBody>
      </p:sp>
    </p:spTree>
    <p:extLst>
      <p:ext uri="{BB962C8B-B14F-4D97-AF65-F5344CB8AC3E}">
        <p14:creationId xmlns:p14="http://schemas.microsoft.com/office/powerpoint/2010/main" val="273922574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 [1775611382796]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NanumGothic"/>
        <a:ea typeface="Nanum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NanumGothic"/>
        <a:ea typeface="NanumGothic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525" row="1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568F877E-9234-460F-BCFD-831A223052F9}">
  <we:reference id="wa200010001" version="1.0.0.1" store="en-US" storeType="OMEX"/>
  <we:alternateReferences>
    <we:reference id="WA200010001" version="1.0.0.1" store="" storeType="OMEX"/>
  </we:alternateReferences>
  <we:properties>
    <we:property name="claude.fileId" value="&quot;d7506641-50ce-42df-9a7b-b545352fb8b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7201</Words>
  <Application>Microsoft Office PowerPoint</Application>
  <PresentationFormat>와이드스크린</PresentationFormat>
  <Paragraphs>1444</Paragraphs>
  <Slides>105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105</vt:i4>
      </vt:variant>
    </vt:vector>
  </HeadingPairs>
  <TitlesOfParts>
    <vt:vector size="109" baseType="lpstr">
      <vt:lpstr>NanumGothic</vt:lpstr>
      <vt:lpstr>Malgun Gothic</vt:lpstr>
      <vt:lpstr>Arial</vt:lpstr>
      <vt:lpstr>Office Theme [1775611382796]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선영 김</cp:lastModifiedBy>
  <cp:revision>5</cp:revision>
  <dcterms:created xsi:type="dcterms:W3CDTF">2013-01-27T09:14:16Z</dcterms:created>
  <dcterms:modified xsi:type="dcterms:W3CDTF">2026-04-08T02:19:29Z</dcterms:modified>
  <cp:category/>
</cp:coreProperties>
</file>